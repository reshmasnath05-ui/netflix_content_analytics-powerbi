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opperplate Gothic 32 AB Bold" charset="1" panose="020E0707020206020404"/>
      <p:regular r:id="rId26"/>
    </p:embeddedFont>
    <p:embeddedFont>
      <p:font typeface="ITC Benguiat Bold" charset="1" panose="02030904050306020704"/>
      <p:regular r:id="rId27"/>
    </p:embeddedFont>
    <p:embeddedFont>
      <p:font typeface="HK Modular" charset="1" panose="00000800000000000000"/>
      <p:regular r:id="rId28"/>
    </p:embeddedFont>
    <p:embeddedFont>
      <p:font typeface="Canva Sans" charset="1" panose="020B0503030501040103"/>
      <p:regular r:id="rId29"/>
    </p:embeddedFont>
    <p:embeddedFont>
      <p:font typeface="Copperplate Gothic 29 AB Bold" charset="1" panose="020E0604020206020404"/>
      <p:regular r:id="rId30"/>
    </p:embeddedFont>
    <p:embeddedFont>
      <p:font typeface="Chunk Five" charset="1" panose="00000500000000000000"/>
      <p:regular r:id="rId31"/>
    </p:embeddedFont>
    <p:embeddedFont>
      <p:font typeface="Arimo Bold" charset="1" panose="020B0704020202020204"/>
      <p:regular r:id="rId32"/>
    </p:embeddedFont>
    <p:embeddedFont>
      <p:font typeface="Consolas Bold" charset="1" panose="020B0709020204030204"/>
      <p:regular r:id="rId33"/>
    </p:embeddedFont>
    <p:embeddedFont>
      <p:font typeface="Consolas" charset="1" panose="020B0609020204030204"/>
      <p:regular r:id="rId34"/>
    </p:embeddedFont>
    <p:embeddedFont>
      <p:font typeface="Calibri (MS) Italics" charset="1" panose="020F05020202040A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14700" y="3195638"/>
            <a:ext cx="11658600" cy="220503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11054080" cy="2243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7290" b="true">
                  <a:solidFill>
                    <a:srgbClr val="C8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NETFLIX CONTENT ANALYTICS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71987" y="5807869"/>
            <a:ext cx="9344025" cy="258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Cinematic Motion-Texture Theme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86000" y="0"/>
            <a:ext cx="13716000" cy="10287000"/>
            <a:chOff x="0" y="0"/>
            <a:chExt cx="13004800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66" t="0" r="-1666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1282102"/>
            <a:ext cx="18288000" cy="9740302"/>
            <a:chOff x="0" y="0"/>
            <a:chExt cx="17339733" cy="9235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39731" cy="9235313"/>
            </a:xfrm>
            <a:custGeom>
              <a:avLst/>
              <a:gdLst/>
              <a:ahLst/>
              <a:cxnLst/>
              <a:rect r="r" b="b" t="t" l="l"/>
              <a:pathLst>
                <a:path h="9235313" w="17339731">
                  <a:moveTo>
                    <a:pt x="0" y="0"/>
                  </a:moveTo>
                  <a:lnTo>
                    <a:pt x="17339731" y="0"/>
                  </a:lnTo>
                  <a:lnTo>
                    <a:pt x="17339731" y="9235313"/>
                  </a:lnTo>
                  <a:lnTo>
                    <a:pt x="0" y="9235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626" r="0" b="-554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62256" y="4518932"/>
            <a:ext cx="1763487" cy="1763487"/>
            <a:chOff x="0" y="0"/>
            <a:chExt cx="1672047" cy="16720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2082" cy="1672082"/>
            </a:xfrm>
            <a:custGeom>
              <a:avLst/>
              <a:gdLst/>
              <a:ahLst/>
              <a:cxnLst/>
              <a:rect r="r" b="b" t="t" l="l"/>
              <a:pathLst>
                <a:path h="1672082" w="1672082">
                  <a:moveTo>
                    <a:pt x="0" y="0"/>
                  </a:moveTo>
                  <a:lnTo>
                    <a:pt x="1672082" y="0"/>
                  </a:lnTo>
                  <a:lnTo>
                    <a:pt x="1672082" y="1672082"/>
                  </a:lnTo>
                  <a:lnTo>
                    <a:pt x="0" y="1672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25021" y="6845080"/>
            <a:ext cx="723795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gradFill>
                  <a:gsLst>
                    <a:gs pos="0">
                      <a:srgbClr val="FC7B79">
                        <a:alpha val="100000"/>
                      </a:srgbClr>
                    </a:gs>
                    <a:gs pos="75000">
                      <a:srgbClr val="D2403D">
                        <a:alpha val="100000"/>
                      </a:srgbClr>
                    </a:gs>
                    <a:gs pos="100000">
                      <a:srgbClr val="C20500">
                        <a:alpha val="100000"/>
                      </a:srgbClr>
                    </a:gs>
                  </a:gsLst>
                  <a:lin ang="5400000"/>
                </a:gra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RESHMA S NATH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450057" y="8458200"/>
            <a:ext cx="18738057" cy="1987905"/>
            <a:chOff x="0" y="0"/>
            <a:chExt cx="17766454" cy="18848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766454" cy="1884807"/>
            </a:xfrm>
            <a:custGeom>
              <a:avLst/>
              <a:gdLst/>
              <a:ahLst/>
              <a:cxnLst/>
              <a:rect r="r" b="b" t="t" l="l"/>
              <a:pathLst>
                <a:path h="1884807" w="17766454">
                  <a:moveTo>
                    <a:pt x="0" y="0"/>
                  </a:moveTo>
                  <a:lnTo>
                    <a:pt x="17766454" y="0"/>
                  </a:lnTo>
                  <a:lnTo>
                    <a:pt x="17766454" y="1884807"/>
                  </a:lnTo>
                  <a:lnTo>
                    <a:pt x="0" y="1884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08725" r="0" b="-80872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325" y="-228600"/>
            <a:ext cx="18602325" cy="10515600"/>
          </a:xfrm>
          <a:custGeom>
            <a:avLst/>
            <a:gdLst/>
            <a:ahLst/>
            <a:cxnLst/>
            <a:rect r="r" b="b" t="t" l="l"/>
            <a:pathLst>
              <a:path h="10515600" w="18602325">
                <a:moveTo>
                  <a:pt x="0" y="0"/>
                </a:moveTo>
                <a:lnTo>
                  <a:pt x="18602325" y="0"/>
                </a:lnTo>
                <a:lnTo>
                  <a:pt x="18602325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2" t="-1386" r="-148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09393" y="308718"/>
            <a:ext cx="6240564" cy="6240564"/>
          </a:xfrm>
          <a:custGeom>
            <a:avLst/>
            <a:gdLst/>
            <a:ahLst/>
            <a:cxnLst/>
            <a:rect r="r" b="b" t="t" l="l"/>
            <a:pathLst>
              <a:path h="6240564" w="6240564">
                <a:moveTo>
                  <a:pt x="0" y="0"/>
                </a:moveTo>
                <a:lnTo>
                  <a:pt x="6240564" y="0"/>
                </a:lnTo>
                <a:lnTo>
                  <a:pt x="6240564" y="6240564"/>
                </a:lnTo>
                <a:lnTo>
                  <a:pt x="0" y="62405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3000"/>
            </a:blip>
            <a:stretch>
              <a:fillRect l="0" t="0" r="0" b="0"/>
            </a:stretch>
          </a:blipFill>
          <a:ln w="342900" cap="sq">
            <a:solidFill>
              <a:srgbClr val="000000">
                <a:alpha val="62745"/>
              </a:srgbClr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7299177"/>
            <a:ext cx="16125443" cy="382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5"/>
              </a:lnSpc>
            </a:pPr>
            <a:r>
              <a:rPr lang="en-US" b="true" sz="8505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TC Benguiat Bold"/>
                <a:ea typeface="ITC Benguiat Bold"/>
                <a:cs typeface="ITC Benguiat Bold"/>
                <a:sym typeface="ITC Benguiat Bold"/>
              </a:rPr>
              <a:t>DESCRIPTIVE ANALYSIS ON NETFLIX CONTENT</a:t>
            </a:r>
          </a:p>
          <a:p>
            <a:pPr algn="ctr">
              <a:lnSpc>
                <a:spcPts val="95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Total Titles: 8807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Movies: 6131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 Shows: 2676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100+ countries represented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Multiple decades covered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4" id="4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45846" y="530402"/>
            <a:ext cx="16515011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9"/>
              </a:lnSpc>
            </a:pPr>
            <a:r>
              <a:rPr lang="en-US" sz="12199" spc="101">
                <a:solidFill>
                  <a:srgbClr val="FCFCFD">
                    <a:alpha val="94902"/>
                  </a:srgbClr>
                </a:solidFill>
                <a:latin typeface="HK Modular"/>
                <a:ea typeface="HK Modular"/>
                <a:cs typeface="HK Modular"/>
                <a:sym typeface="HK Modular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9414" y="2981326"/>
            <a:ext cx="16069172" cy="702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2237" indent="-251119" lvl="1">
              <a:lnSpc>
                <a:spcPts val="468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Netflix is a leading global streaming platform offering movies, TV shows, and original content across many countries.</a:t>
            </a:r>
          </a:p>
          <a:p>
            <a:pPr algn="l" marL="502237" indent="-251119" lvl="1">
              <a:lnSpc>
                <a:spcPts val="4683"/>
              </a:lnSpc>
            </a:pPr>
          </a:p>
          <a:p>
            <a:pPr algn="l" marL="502237" indent="-251119" lvl="1">
              <a:lnSpc>
                <a:spcPts val="468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analytics plays a key role in understanding content distribution, audience preferences, and growth trends.</a:t>
            </a:r>
          </a:p>
          <a:p>
            <a:pPr algn="l" marL="502237" indent="-251119" lvl="1">
              <a:lnSpc>
                <a:spcPts val="4683"/>
              </a:lnSpc>
            </a:pPr>
          </a:p>
          <a:p>
            <a:pPr algn="l" marL="502237" indent="-251119" lvl="1">
              <a:lnSpc>
                <a:spcPts val="468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study uses a Power BI dashboard to visually analyze Netflix’s content library by type, genre, rating, country, and year.</a:t>
            </a:r>
          </a:p>
          <a:p>
            <a:pPr algn="l" marL="502237" indent="-251119" lvl="1">
              <a:lnSpc>
                <a:spcPts val="4683"/>
              </a:lnSpc>
            </a:pPr>
          </a:p>
          <a:p>
            <a:pPr algn="l" marL="502237" indent="-251119" lvl="1">
              <a:lnSpc>
                <a:spcPts val="4683"/>
              </a:lnSpc>
              <a:buFont typeface="Arial"/>
              <a:buChar char="•"/>
            </a:pPr>
            <a:r>
              <a:rPr lang="en-US" sz="390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analysis helps in understanding how Netflix expands its catalog and maintains competitiveness in the global market. </a:t>
            </a:r>
          </a:p>
          <a:p>
            <a:pPr algn="l" marL="502237" indent="-251119" lvl="1">
              <a:lnSpc>
                <a:spcPts val="468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Overview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145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Total Titles: 8807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Movies: 6131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 Shows: 2676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100+ countries represented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Multiple decades covered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521743" y="0"/>
            <a:ext cx="15766257" cy="10287000"/>
            <a:chOff x="0" y="0"/>
            <a:chExt cx="14948747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4948748" cy="9753600"/>
            </a:xfrm>
            <a:custGeom>
              <a:avLst/>
              <a:gdLst/>
              <a:ahLst/>
              <a:cxnLst/>
              <a:rect r="r" b="b" t="t" l="l"/>
              <a:pathLst>
                <a:path h="9753600" w="14948748">
                  <a:moveTo>
                    <a:pt x="0" y="0"/>
                  </a:moveTo>
                  <a:lnTo>
                    <a:pt x="14948748" y="0"/>
                  </a:lnTo>
                  <a:lnTo>
                    <a:pt x="14948748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7" t="0" r="-799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9144000" cy="10287000"/>
            <a:chOff x="0" y="0"/>
            <a:chExt cx="8669867" cy="9753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9867" cy="9753600"/>
            </a:xfrm>
            <a:custGeom>
              <a:avLst/>
              <a:gdLst/>
              <a:ahLst/>
              <a:cxnLst/>
              <a:rect r="r" b="b" t="t" l="l"/>
              <a:pathLst>
                <a:path h="9753600" w="8669867">
                  <a:moveTo>
                    <a:pt x="0" y="0"/>
                  </a:moveTo>
                  <a:lnTo>
                    <a:pt x="8669867" y="0"/>
                  </a:lnTo>
                  <a:lnTo>
                    <a:pt x="8669867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66" r="0" b="-1666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14587" y="4933950"/>
            <a:ext cx="4671231" cy="157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3"/>
              </a:lnSpc>
            </a:pPr>
            <a:r>
              <a:rPr lang="en-US" sz="365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9000">
                      <a:srgbClr val="FFFFFF">
                        <a:alpha val="100000"/>
                      </a:srgbClr>
                    </a:gs>
                    <a:gs pos="50000">
                      <a:srgbClr val="7C7C7C">
                        <a:alpha val="100000"/>
                      </a:srgbClr>
                    </a:gs>
                    <a:gs pos="79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HK Modular"/>
                <a:ea typeface="HK Modular"/>
                <a:cs typeface="HK Modular"/>
                <a:sym typeface="HK Modular"/>
              </a:rPr>
              <a:t>OBJECTIVES OF THE STUDY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15549" y="411957"/>
            <a:ext cx="6182917" cy="2925723"/>
            <a:chOff x="0" y="0"/>
            <a:chExt cx="5862322" cy="27740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704" y="6731"/>
              <a:ext cx="5848830" cy="2760599"/>
            </a:xfrm>
            <a:custGeom>
              <a:avLst/>
              <a:gdLst/>
              <a:ahLst/>
              <a:cxnLst/>
              <a:rect r="r" b="b" t="t" l="l"/>
              <a:pathLst>
                <a:path h="2760599" w="5848830">
                  <a:moveTo>
                    <a:pt x="0" y="460121"/>
                  </a:moveTo>
                  <a:cubicBezTo>
                    <a:pt x="0" y="205994"/>
                    <a:pt x="205670" y="0"/>
                    <a:pt x="459406" y="0"/>
                  </a:cubicBezTo>
                  <a:lnTo>
                    <a:pt x="5389424" y="0"/>
                  </a:lnTo>
                  <a:cubicBezTo>
                    <a:pt x="5643160" y="0"/>
                    <a:pt x="5848830" y="205994"/>
                    <a:pt x="5848830" y="460121"/>
                  </a:cubicBezTo>
                  <a:lnTo>
                    <a:pt x="5848830" y="2300478"/>
                  </a:lnTo>
                  <a:cubicBezTo>
                    <a:pt x="5848830" y="2554605"/>
                    <a:pt x="5643160" y="2760599"/>
                    <a:pt x="5389424" y="2760599"/>
                  </a:cubicBezTo>
                  <a:lnTo>
                    <a:pt x="459406" y="2760599"/>
                  </a:lnTo>
                  <a:cubicBezTo>
                    <a:pt x="205670" y="2760472"/>
                    <a:pt x="0" y="2554478"/>
                    <a:pt x="0" y="230047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62238" cy="2774061"/>
            </a:xfrm>
            <a:custGeom>
              <a:avLst/>
              <a:gdLst/>
              <a:ahLst/>
              <a:cxnLst/>
              <a:rect r="r" b="b" t="t" l="l"/>
              <a:pathLst>
                <a:path h="2774061" w="5862238">
                  <a:moveTo>
                    <a:pt x="0" y="466852"/>
                  </a:moveTo>
                  <a:cubicBezTo>
                    <a:pt x="0" y="209042"/>
                    <a:pt x="208706" y="0"/>
                    <a:pt x="466110" y="0"/>
                  </a:cubicBezTo>
                  <a:lnTo>
                    <a:pt x="5396128" y="0"/>
                  </a:lnTo>
                  <a:lnTo>
                    <a:pt x="5396128" y="6731"/>
                  </a:lnTo>
                  <a:lnTo>
                    <a:pt x="5396128" y="0"/>
                  </a:lnTo>
                  <a:cubicBezTo>
                    <a:pt x="5653532" y="0"/>
                    <a:pt x="5862238" y="209042"/>
                    <a:pt x="5862238" y="466852"/>
                  </a:cubicBezTo>
                  <a:lnTo>
                    <a:pt x="5855534" y="466852"/>
                  </a:lnTo>
                  <a:lnTo>
                    <a:pt x="5862238" y="466852"/>
                  </a:lnTo>
                  <a:lnTo>
                    <a:pt x="5862238" y="2307209"/>
                  </a:lnTo>
                  <a:lnTo>
                    <a:pt x="5855534" y="2307209"/>
                  </a:lnTo>
                  <a:lnTo>
                    <a:pt x="5862238" y="2307209"/>
                  </a:lnTo>
                  <a:cubicBezTo>
                    <a:pt x="5862238" y="2565019"/>
                    <a:pt x="5653532" y="2774061"/>
                    <a:pt x="5396128" y="2774061"/>
                  </a:cubicBezTo>
                  <a:lnTo>
                    <a:pt x="5396128" y="2767330"/>
                  </a:lnTo>
                  <a:lnTo>
                    <a:pt x="5396128" y="2774061"/>
                  </a:lnTo>
                  <a:lnTo>
                    <a:pt x="466110" y="2774061"/>
                  </a:lnTo>
                  <a:lnTo>
                    <a:pt x="466110" y="2767330"/>
                  </a:lnTo>
                  <a:lnTo>
                    <a:pt x="466110" y="2774061"/>
                  </a:lnTo>
                  <a:cubicBezTo>
                    <a:pt x="208706" y="2774061"/>
                    <a:pt x="0" y="2565019"/>
                    <a:pt x="0" y="2307209"/>
                  </a:cubicBezTo>
                  <a:lnTo>
                    <a:pt x="0" y="466852"/>
                  </a:lnTo>
                  <a:lnTo>
                    <a:pt x="6704" y="466852"/>
                  </a:lnTo>
                  <a:lnTo>
                    <a:pt x="0" y="466852"/>
                  </a:lnTo>
                  <a:moveTo>
                    <a:pt x="13534" y="466852"/>
                  </a:moveTo>
                  <a:lnTo>
                    <a:pt x="13534" y="2307209"/>
                  </a:lnTo>
                  <a:lnTo>
                    <a:pt x="6704" y="2307209"/>
                  </a:lnTo>
                  <a:lnTo>
                    <a:pt x="13408" y="2307209"/>
                  </a:lnTo>
                  <a:cubicBezTo>
                    <a:pt x="13408" y="2557526"/>
                    <a:pt x="216042" y="2760472"/>
                    <a:pt x="466110" y="2760472"/>
                  </a:cubicBezTo>
                  <a:lnTo>
                    <a:pt x="5396128" y="2760472"/>
                  </a:lnTo>
                  <a:cubicBezTo>
                    <a:pt x="5646195" y="2760472"/>
                    <a:pt x="5848830" y="2557526"/>
                    <a:pt x="5848830" y="2307209"/>
                  </a:cubicBezTo>
                  <a:lnTo>
                    <a:pt x="5848830" y="466852"/>
                  </a:lnTo>
                  <a:cubicBezTo>
                    <a:pt x="5848830" y="216535"/>
                    <a:pt x="5646195" y="13589"/>
                    <a:pt x="5396128" y="13589"/>
                  </a:cubicBezTo>
                  <a:lnTo>
                    <a:pt x="466110" y="13589"/>
                  </a:lnTo>
                  <a:lnTo>
                    <a:pt x="466110" y="6731"/>
                  </a:lnTo>
                  <a:lnTo>
                    <a:pt x="466110" y="13462"/>
                  </a:lnTo>
                  <a:cubicBezTo>
                    <a:pt x="216169" y="13589"/>
                    <a:pt x="13534" y="216535"/>
                    <a:pt x="13534" y="466852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862322" cy="2831169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TO ANALYZE NETFLIX’S CONTENT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DISTRIBUTION :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50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 how movies, TV shows, genres, and ratings are structured across the platform.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0550" y="3586521"/>
            <a:ext cx="6182917" cy="2925723"/>
            <a:chOff x="0" y="0"/>
            <a:chExt cx="5862322" cy="27740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731" y="6731"/>
              <a:ext cx="5848858" cy="2760599"/>
            </a:xfrm>
            <a:custGeom>
              <a:avLst/>
              <a:gdLst/>
              <a:ahLst/>
              <a:cxnLst/>
              <a:rect r="r" b="b" t="t" l="l"/>
              <a:pathLst>
                <a:path h="2760599" w="5848858">
                  <a:moveTo>
                    <a:pt x="0" y="460121"/>
                  </a:moveTo>
                  <a:cubicBezTo>
                    <a:pt x="0" y="205994"/>
                    <a:pt x="206502" y="0"/>
                    <a:pt x="461264" y="0"/>
                  </a:cubicBezTo>
                  <a:lnTo>
                    <a:pt x="5387594" y="0"/>
                  </a:lnTo>
                  <a:cubicBezTo>
                    <a:pt x="5642356" y="0"/>
                    <a:pt x="5848858" y="205994"/>
                    <a:pt x="5848858" y="460121"/>
                  </a:cubicBezTo>
                  <a:lnTo>
                    <a:pt x="5848858" y="2300478"/>
                  </a:lnTo>
                  <a:cubicBezTo>
                    <a:pt x="5848858" y="2554605"/>
                    <a:pt x="5642356" y="2760599"/>
                    <a:pt x="5387594" y="2760599"/>
                  </a:cubicBezTo>
                  <a:lnTo>
                    <a:pt x="461264" y="2760599"/>
                  </a:lnTo>
                  <a:cubicBezTo>
                    <a:pt x="206502" y="2760472"/>
                    <a:pt x="0" y="2554478"/>
                    <a:pt x="0" y="230047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62320" cy="2774061"/>
            </a:xfrm>
            <a:custGeom>
              <a:avLst/>
              <a:gdLst/>
              <a:ahLst/>
              <a:cxnLst/>
              <a:rect r="r" b="b" t="t" l="l"/>
              <a:pathLst>
                <a:path h="2774061" w="5862320">
                  <a:moveTo>
                    <a:pt x="0" y="466852"/>
                  </a:moveTo>
                  <a:cubicBezTo>
                    <a:pt x="0" y="209042"/>
                    <a:pt x="209550" y="0"/>
                    <a:pt x="467995" y="0"/>
                  </a:cubicBezTo>
                  <a:lnTo>
                    <a:pt x="5394325" y="0"/>
                  </a:lnTo>
                  <a:lnTo>
                    <a:pt x="5394325" y="6731"/>
                  </a:lnTo>
                  <a:lnTo>
                    <a:pt x="5394325" y="0"/>
                  </a:lnTo>
                  <a:cubicBezTo>
                    <a:pt x="5652770" y="0"/>
                    <a:pt x="5862320" y="209042"/>
                    <a:pt x="5862320" y="466852"/>
                  </a:cubicBezTo>
                  <a:lnTo>
                    <a:pt x="5855589" y="466852"/>
                  </a:lnTo>
                  <a:lnTo>
                    <a:pt x="5862320" y="466852"/>
                  </a:lnTo>
                  <a:lnTo>
                    <a:pt x="5862320" y="2307209"/>
                  </a:lnTo>
                  <a:lnTo>
                    <a:pt x="5855589" y="2307209"/>
                  </a:lnTo>
                  <a:lnTo>
                    <a:pt x="5862320" y="2307209"/>
                  </a:lnTo>
                  <a:cubicBezTo>
                    <a:pt x="5862320" y="2565019"/>
                    <a:pt x="5652770" y="2774061"/>
                    <a:pt x="5394325" y="2774061"/>
                  </a:cubicBezTo>
                  <a:lnTo>
                    <a:pt x="5394325" y="2767330"/>
                  </a:lnTo>
                  <a:lnTo>
                    <a:pt x="5394325" y="2774061"/>
                  </a:lnTo>
                  <a:lnTo>
                    <a:pt x="467995" y="2774061"/>
                  </a:lnTo>
                  <a:lnTo>
                    <a:pt x="467995" y="2767330"/>
                  </a:lnTo>
                  <a:lnTo>
                    <a:pt x="467995" y="2774061"/>
                  </a:lnTo>
                  <a:cubicBezTo>
                    <a:pt x="209550" y="2774061"/>
                    <a:pt x="0" y="2565019"/>
                    <a:pt x="0" y="2307209"/>
                  </a:cubicBezTo>
                  <a:lnTo>
                    <a:pt x="0" y="466852"/>
                  </a:lnTo>
                  <a:lnTo>
                    <a:pt x="6731" y="466852"/>
                  </a:lnTo>
                  <a:lnTo>
                    <a:pt x="0" y="466852"/>
                  </a:lnTo>
                  <a:moveTo>
                    <a:pt x="13589" y="466852"/>
                  </a:moveTo>
                  <a:lnTo>
                    <a:pt x="13589" y="2307209"/>
                  </a:lnTo>
                  <a:lnTo>
                    <a:pt x="6731" y="2307209"/>
                  </a:lnTo>
                  <a:lnTo>
                    <a:pt x="13462" y="2307209"/>
                  </a:lnTo>
                  <a:cubicBezTo>
                    <a:pt x="13462" y="2557526"/>
                    <a:pt x="216916" y="2760472"/>
                    <a:pt x="467995" y="2760472"/>
                  </a:cubicBezTo>
                  <a:lnTo>
                    <a:pt x="5394325" y="2760472"/>
                  </a:lnTo>
                  <a:cubicBezTo>
                    <a:pt x="5645404" y="2760472"/>
                    <a:pt x="5848858" y="2557526"/>
                    <a:pt x="5848858" y="2307209"/>
                  </a:cubicBezTo>
                  <a:lnTo>
                    <a:pt x="5848858" y="466852"/>
                  </a:lnTo>
                  <a:cubicBezTo>
                    <a:pt x="5848858" y="216535"/>
                    <a:pt x="5645404" y="13589"/>
                    <a:pt x="5394325" y="13589"/>
                  </a:cubicBezTo>
                  <a:lnTo>
                    <a:pt x="467995" y="13589"/>
                  </a:lnTo>
                  <a:lnTo>
                    <a:pt x="467995" y="6731"/>
                  </a:lnTo>
                  <a:lnTo>
                    <a:pt x="467995" y="13462"/>
                  </a:lnTo>
                  <a:cubicBezTo>
                    <a:pt x="217043" y="13589"/>
                    <a:pt x="13589" y="216535"/>
                    <a:pt x="13589" y="466852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862322" cy="2831169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 TO IDENTIFY GLOBAL CONTENT     PATTERNS AND GROWTH TRENDS :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50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Examine country contributions, regional diversity, and year-wise expansion of the catalog.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15549" y="6759894"/>
            <a:ext cx="6182917" cy="3385424"/>
            <a:chOff x="0" y="0"/>
            <a:chExt cx="5862322" cy="32098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731" y="6731"/>
              <a:ext cx="5848858" cy="3196463"/>
            </a:xfrm>
            <a:custGeom>
              <a:avLst/>
              <a:gdLst/>
              <a:ahLst/>
              <a:cxnLst/>
              <a:rect r="r" b="b" t="t" l="l"/>
              <a:pathLst>
                <a:path h="3196463" w="5848858">
                  <a:moveTo>
                    <a:pt x="0" y="532765"/>
                  </a:moveTo>
                  <a:cubicBezTo>
                    <a:pt x="0" y="238506"/>
                    <a:pt x="239014" y="0"/>
                    <a:pt x="533781" y="0"/>
                  </a:cubicBezTo>
                  <a:lnTo>
                    <a:pt x="5315077" y="0"/>
                  </a:lnTo>
                  <a:cubicBezTo>
                    <a:pt x="5609844" y="0"/>
                    <a:pt x="5848858" y="238506"/>
                    <a:pt x="5848858" y="532765"/>
                  </a:cubicBezTo>
                  <a:lnTo>
                    <a:pt x="5848858" y="2663698"/>
                  </a:lnTo>
                  <a:cubicBezTo>
                    <a:pt x="5848858" y="2957957"/>
                    <a:pt x="5609844" y="3196463"/>
                    <a:pt x="5315077" y="3196463"/>
                  </a:cubicBezTo>
                  <a:lnTo>
                    <a:pt x="533781" y="3196463"/>
                  </a:lnTo>
                  <a:cubicBezTo>
                    <a:pt x="239014" y="3196336"/>
                    <a:pt x="0" y="2957830"/>
                    <a:pt x="0" y="266369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62320" cy="3209925"/>
            </a:xfrm>
            <a:custGeom>
              <a:avLst/>
              <a:gdLst/>
              <a:ahLst/>
              <a:cxnLst/>
              <a:rect r="r" b="b" t="t" l="l"/>
              <a:pathLst>
                <a:path h="3209925" w="5862320">
                  <a:moveTo>
                    <a:pt x="0" y="539496"/>
                  </a:moveTo>
                  <a:cubicBezTo>
                    <a:pt x="0" y="241554"/>
                    <a:pt x="242062" y="0"/>
                    <a:pt x="540512" y="0"/>
                  </a:cubicBezTo>
                  <a:lnTo>
                    <a:pt x="5321808" y="0"/>
                  </a:lnTo>
                  <a:lnTo>
                    <a:pt x="5321808" y="6731"/>
                  </a:lnTo>
                  <a:lnTo>
                    <a:pt x="5321808" y="0"/>
                  </a:lnTo>
                  <a:cubicBezTo>
                    <a:pt x="5620258" y="0"/>
                    <a:pt x="5862320" y="241554"/>
                    <a:pt x="5862320" y="539496"/>
                  </a:cubicBezTo>
                  <a:lnTo>
                    <a:pt x="5862320" y="2670429"/>
                  </a:lnTo>
                  <a:lnTo>
                    <a:pt x="5855589" y="2670429"/>
                  </a:lnTo>
                  <a:lnTo>
                    <a:pt x="5862320" y="2670429"/>
                  </a:lnTo>
                  <a:cubicBezTo>
                    <a:pt x="5862320" y="2968371"/>
                    <a:pt x="5620258" y="3209925"/>
                    <a:pt x="5321808" y="3209925"/>
                  </a:cubicBezTo>
                  <a:lnTo>
                    <a:pt x="5321808" y="3203194"/>
                  </a:lnTo>
                  <a:lnTo>
                    <a:pt x="5321808" y="3209925"/>
                  </a:lnTo>
                  <a:lnTo>
                    <a:pt x="540512" y="3209925"/>
                  </a:lnTo>
                  <a:lnTo>
                    <a:pt x="540512" y="3203194"/>
                  </a:lnTo>
                  <a:lnTo>
                    <a:pt x="540512" y="3209925"/>
                  </a:lnTo>
                  <a:cubicBezTo>
                    <a:pt x="242062" y="3209925"/>
                    <a:pt x="0" y="2968371"/>
                    <a:pt x="0" y="2670429"/>
                  </a:cubicBezTo>
                  <a:lnTo>
                    <a:pt x="0" y="539496"/>
                  </a:lnTo>
                  <a:lnTo>
                    <a:pt x="6731" y="539496"/>
                  </a:lnTo>
                  <a:lnTo>
                    <a:pt x="0" y="539496"/>
                  </a:lnTo>
                  <a:moveTo>
                    <a:pt x="13589" y="539496"/>
                  </a:moveTo>
                  <a:lnTo>
                    <a:pt x="13589" y="2670429"/>
                  </a:lnTo>
                  <a:lnTo>
                    <a:pt x="6731" y="2670429"/>
                  </a:lnTo>
                  <a:lnTo>
                    <a:pt x="13462" y="2670429"/>
                  </a:lnTo>
                  <a:cubicBezTo>
                    <a:pt x="13462" y="2960878"/>
                    <a:pt x="249428" y="3196336"/>
                    <a:pt x="540385" y="3196336"/>
                  </a:cubicBezTo>
                  <a:lnTo>
                    <a:pt x="5321808" y="3196336"/>
                  </a:lnTo>
                  <a:cubicBezTo>
                    <a:pt x="5612892" y="3196336"/>
                    <a:pt x="5848731" y="2960878"/>
                    <a:pt x="5848731" y="2670429"/>
                  </a:cubicBezTo>
                  <a:lnTo>
                    <a:pt x="5848731" y="539496"/>
                  </a:lnTo>
                  <a:lnTo>
                    <a:pt x="5855462" y="539496"/>
                  </a:lnTo>
                  <a:lnTo>
                    <a:pt x="5848731" y="539496"/>
                  </a:lnTo>
                  <a:cubicBezTo>
                    <a:pt x="5848731" y="249047"/>
                    <a:pt x="5612765" y="13589"/>
                    <a:pt x="5321808" y="13589"/>
                  </a:cubicBezTo>
                  <a:lnTo>
                    <a:pt x="540512" y="13589"/>
                  </a:lnTo>
                  <a:lnTo>
                    <a:pt x="540512" y="6731"/>
                  </a:lnTo>
                  <a:lnTo>
                    <a:pt x="540512" y="13462"/>
                  </a:lnTo>
                  <a:cubicBezTo>
                    <a:pt x="249428" y="13589"/>
                    <a:pt x="13589" y="249047"/>
                    <a:pt x="13589" y="539496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862322" cy="3267033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TO DERIVE STRATEGIC INSIGHTS FOR DECISION-MAKING :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50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meaningful conclusions that support content planning, audience targeting, and market expansion strategies.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559" y="151538"/>
            <a:ext cx="3852057" cy="877162"/>
            <a:chOff x="0" y="0"/>
            <a:chExt cx="3652321" cy="83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2266" cy="831723"/>
            </a:xfrm>
            <a:custGeom>
              <a:avLst/>
              <a:gdLst/>
              <a:ahLst/>
              <a:cxnLst/>
              <a:rect r="r" b="b" t="t" l="l"/>
              <a:pathLst>
                <a:path h="831723" w="3652266">
                  <a:moveTo>
                    <a:pt x="0" y="0"/>
                  </a:moveTo>
                  <a:lnTo>
                    <a:pt x="3652266" y="0"/>
                  </a:lnTo>
                  <a:lnTo>
                    <a:pt x="3652266" y="831723"/>
                  </a:lnTo>
                  <a:lnTo>
                    <a:pt x="0" y="831723"/>
                  </a:lnTo>
                  <a:close/>
                </a:path>
              </a:pathLst>
            </a:custGeom>
            <a:solidFill>
              <a:srgbClr val="B212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652321" cy="926930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opperplate Gothic 29 AB Bold"/>
                  <a:ea typeface="Copperplate Gothic 29 AB Bold"/>
                  <a:cs typeface="Copperplate Gothic 29 AB Bold"/>
                  <a:sym typeface="Copperplate Gothic 29 AB Bold"/>
                </a:rPr>
                <a:t>DATASET :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643622"/>
            <a:ext cx="18288000" cy="8643378"/>
            <a:chOff x="0" y="0"/>
            <a:chExt cx="4168523" cy="1970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39" y="0"/>
              <a:ext cx="4168536" cy="1970024"/>
            </a:xfrm>
            <a:custGeom>
              <a:avLst/>
              <a:gdLst/>
              <a:ahLst/>
              <a:cxnLst/>
              <a:rect r="r" b="b" t="t" l="l"/>
              <a:pathLst>
                <a:path h="1970024" w="4168536">
                  <a:moveTo>
                    <a:pt x="4152406" y="184404"/>
                  </a:moveTo>
                  <a:cubicBezTo>
                    <a:pt x="4152025" y="123444"/>
                    <a:pt x="4161423" y="6604"/>
                    <a:pt x="4161423" y="6604"/>
                  </a:cubicBezTo>
                  <a:lnTo>
                    <a:pt x="4016516" y="4318"/>
                  </a:lnTo>
                  <a:lnTo>
                    <a:pt x="3811030" y="14097"/>
                  </a:lnTo>
                  <a:cubicBezTo>
                    <a:pt x="3811030" y="14097"/>
                    <a:pt x="3477401" y="-1905"/>
                    <a:pt x="3445524" y="13081"/>
                  </a:cubicBezTo>
                  <a:cubicBezTo>
                    <a:pt x="3413520" y="28067"/>
                    <a:pt x="3347607" y="4318"/>
                    <a:pt x="3347607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24356"/>
                  </a:lnTo>
                  <a:lnTo>
                    <a:pt x="14363" y="1503172"/>
                  </a:lnTo>
                  <a:cubicBezTo>
                    <a:pt x="14363" y="1503172"/>
                    <a:pt x="-10656" y="1544320"/>
                    <a:pt x="5346" y="1704340"/>
                  </a:cubicBezTo>
                  <a:cubicBezTo>
                    <a:pt x="21348" y="1864360"/>
                    <a:pt x="38620" y="1959610"/>
                    <a:pt x="38620" y="1959610"/>
                  </a:cubicBezTo>
                  <a:lnTo>
                    <a:pt x="122186" y="1959864"/>
                  </a:lnTo>
                  <a:lnTo>
                    <a:pt x="294906" y="1943354"/>
                  </a:lnTo>
                  <a:lnTo>
                    <a:pt x="521855" y="1960880"/>
                  </a:lnTo>
                  <a:lnTo>
                    <a:pt x="760488" y="1970024"/>
                  </a:lnTo>
                  <a:lnTo>
                    <a:pt x="895870" y="1944878"/>
                  </a:lnTo>
                  <a:lnTo>
                    <a:pt x="998105" y="1962150"/>
                  </a:lnTo>
                  <a:lnTo>
                    <a:pt x="3412377" y="1964055"/>
                  </a:lnTo>
                  <a:lnTo>
                    <a:pt x="3655328" y="1964690"/>
                  </a:lnTo>
                  <a:lnTo>
                    <a:pt x="3892183" y="1955038"/>
                  </a:lnTo>
                  <a:lnTo>
                    <a:pt x="4078492" y="1965833"/>
                  </a:lnTo>
                  <a:lnTo>
                    <a:pt x="4155962" y="1966087"/>
                  </a:lnTo>
                  <a:lnTo>
                    <a:pt x="4156343" y="1818132"/>
                  </a:lnTo>
                  <a:lnTo>
                    <a:pt x="4156597" y="1704467"/>
                  </a:lnTo>
                  <a:lnTo>
                    <a:pt x="4148723" y="1498981"/>
                  </a:lnTo>
                  <a:lnTo>
                    <a:pt x="4157613" y="1330833"/>
                  </a:lnTo>
                  <a:lnTo>
                    <a:pt x="4159391" y="669671"/>
                  </a:lnTo>
                  <a:lnTo>
                    <a:pt x="4168535" y="422656"/>
                  </a:lnTo>
                  <a:cubicBezTo>
                    <a:pt x="4168535" y="422656"/>
                    <a:pt x="4152533" y="245110"/>
                    <a:pt x="4152152" y="18415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2898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17339733" cy="9753600"/>
          </a:xfrm>
        </p:grpSpPr>
        <p:sp>
          <p:nvSpPr>
            <p:cNvPr name="Freeform 3" id="3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525" y="2333942"/>
            <a:ext cx="11677650" cy="813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40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Duplicate recor</a:t>
            </a: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ds were removed to avoid double counting.</a:t>
            </a:r>
          </a:p>
          <a:p>
            <a:pPr algn="l" marL="798828" indent="-399414" lvl="1">
              <a:lnSpc>
                <a:spcPts val="540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Missing or inconsistent values were handled appropriately.</a:t>
            </a:r>
          </a:p>
          <a:p>
            <a:pPr algn="l" marL="798828" indent="-399414" lvl="1">
              <a:lnSpc>
                <a:spcPts val="540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Duration values stored as text (for example, “90 min”) were processed and converted into numeric form.</a:t>
            </a:r>
          </a:p>
          <a:p>
            <a:pPr algn="l" marL="798828" indent="-399414" lvl="1">
              <a:lnSpc>
                <a:spcPts val="540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Unnecessary or inconsistent formatting in text fields was corrected.</a:t>
            </a:r>
          </a:p>
          <a:p>
            <a:pPr algn="l" marL="798828" indent="-399414" lvl="1">
              <a:lnSpc>
                <a:spcPts val="5401"/>
              </a:lnSpc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types were standardized for numerical and categorical columns.</a:t>
            </a:r>
          </a:p>
          <a:p>
            <a:pPr algn="ctr">
              <a:lnSpc>
                <a:spcPts val="4759"/>
              </a:lnSpc>
            </a:pP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939810" y="2063115"/>
            <a:ext cx="5976051" cy="8048863"/>
            <a:chOff x="0" y="0"/>
            <a:chExt cx="3632200" cy="4892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5240" y="15240"/>
              <a:ext cx="3600450" cy="4860290"/>
            </a:xfrm>
            <a:custGeom>
              <a:avLst/>
              <a:gdLst/>
              <a:ahLst/>
              <a:cxnLst/>
              <a:rect r="r" b="b" t="t" l="l"/>
              <a:pathLst>
                <a:path h="486029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60290"/>
                  </a:lnTo>
                  <a:lnTo>
                    <a:pt x="0" y="4860290"/>
                  </a:lnTo>
                  <a:close/>
                </a:path>
              </a:pathLst>
            </a:custGeom>
            <a:blipFill>
              <a:blip r:embed="rId3"/>
              <a:stretch>
                <a:fillRect l="0" t="-563" r="0" b="-4701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2200" cy="4892040"/>
            </a:xfrm>
            <a:custGeom>
              <a:avLst/>
              <a:gdLst/>
              <a:ahLst/>
              <a:cxnLst/>
              <a:rect r="r" b="b" t="t" l="l"/>
              <a:pathLst>
                <a:path h="4892040" w="3632200">
                  <a:moveTo>
                    <a:pt x="3632200" y="4892040"/>
                  </a:moveTo>
                  <a:lnTo>
                    <a:pt x="0" y="4892040"/>
                  </a:lnTo>
                  <a:lnTo>
                    <a:pt x="0" y="0"/>
                  </a:lnTo>
                  <a:lnTo>
                    <a:pt x="3632200" y="0"/>
                  </a:lnTo>
                  <a:lnTo>
                    <a:pt x="3632200" y="4892040"/>
                  </a:lnTo>
                  <a:close/>
                  <a:moveTo>
                    <a:pt x="31750" y="4860290"/>
                  </a:moveTo>
                  <a:lnTo>
                    <a:pt x="3600450" y="4860290"/>
                  </a:lnTo>
                  <a:lnTo>
                    <a:pt x="3600450" y="31750"/>
                  </a:lnTo>
                  <a:lnTo>
                    <a:pt x="31750" y="31750"/>
                  </a:lnTo>
                  <a:lnTo>
                    <a:pt x="31750" y="4860290"/>
                  </a:lnTo>
                  <a:close/>
                </a:path>
              </a:pathLst>
            </a:custGeom>
            <a:solidFill>
              <a:srgbClr val="5000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531790" y="394652"/>
            <a:ext cx="12024271" cy="117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Dat</a:t>
            </a:r>
            <a:r>
              <a:rPr lang="en-US" sz="6199">
                <a:solidFill>
                  <a:srgbClr val="FFFFFF"/>
                </a:solidFill>
                <a:latin typeface="Chunk Five"/>
                <a:ea typeface="Chunk Five"/>
                <a:cs typeface="Chunk Five"/>
                <a:sym typeface="Chunk Five"/>
              </a:rPr>
              <a:t>a Cleaning Steps Performed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Contributing Countries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States: 3689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India: 1046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Kingdom: 804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Canada: 445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France: 393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Japan: 318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Spain: 232 titles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78953" y="352426"/>
            <a:ext cx="507890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9"/>
              </a:lnSpc>
            </a:pPr>
            <a:r>
              <a:rPr lang="en-US" sz="6099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9000">
                      <a:srgbClr val="FFFFFF">
                        <a:alpha val="100000"/>
                      </a:srgbClr>
                    </a:gs>
                    <a:gs pos="50000">
                      <a:srgbClr val="7C7C7C">
                        <a:alpha val="100000"/>
                      </a:srgbClr>
                    </a:gs>
                    <a:gs pos="79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KEY DETAILS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0387" y="1562101"/>
            <a:ext cx="9122565" cy="110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96" indent="-231648" lvl="1">
              <a:lnSpc>
                <a:spcPts val="4319"/>
              </a:lnSpc>
              <a:buFont typeface="Arial"/>
              <a:buChar char="•"/>
            </a:pPr>
            <a:r>
              <a:rPr lang="en-US" b="true" sz="3599">
                <a:gradFill>
                  <a:gsLst>
                    <a:gs pos="0">
                      <a:srgbClr val="FC7B79">
                        <a:alpha val="100000"/>
                      </a:srgbClr>
                    </a:gs>
                    <a:gs pos="75000">
                      <a:srgbClr val="D2403D">
                        <a:alpha val="100000"/>
                      </a:srgbClr>
                    </a:gs>
                    <a:gs pos="100000">
                      <a:srgbClr val="C20500">
                        <a:alpha val="100000"/>
                      </a:srgbClr>
                    </a:gs>
                  </a:gsLst>
                  <a:lin ang="5400000"/>
                </a:gradFill>
                <a:latin typeface="Arimo Bold"/>
                <a:ea typeface="Arimo Bold"/>
                <a:cs typeface="Arimo Bold"/>
                <a:sym typeface="Arimo Bold"/>
              </a:rPr>
              <a:t>Number of Rows  : 7970</a:t>
            </a:r>
          </a:p>
          <a:p>
            <a:pPr algn="l" marL="463296" indent="-231648" lvl="1">
              <a:lnSpc>
                <a:spcPts val="4319"/>
              </a:lnSpc>
              <a:buFont typeface="Arial"/>
              <a:buChar char="•"/>
            </a:pPr>
            <a:r>
              <a:rPr lang="en-US" b="true" sz="3599">
                <a:gradFill>
                  <a:gsLst>
                    <a:gs pos="0">
                      <a:srgbClr val="FC7B79">
                        <a:alpha val="100000"/>
                      </a:srgbClr>
                    </a:gs>
                    <a:gs pos="75000">
                      <a:srgbClr val="D2403D">
                        <a:alpha val="100000"/>
                      </a:srgbClr>
                    </a:gs>
                    <a:gs pos="100000">
                      <a:srgbClr val="C20500">
                        <a:alpha val="100000"/>
                      </a:srgbClr>
                    </a:gs>
                  </a:gsLst>
                  <a:lin ang="5400000"/>
                </a:gradFill>
                <a:latin typeface="Arimo Bold"/>
                <a:ea typeface="Arimo Bold"/>
                <a:cs typeface="Arimo Bold"/>
                <a:sym typeface="Arimo Bold"/>
              </a:rPr>
              <a:t>Number of Columns  : 10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3078952" y="3013384"/>
          <a:ext cx="10115550" cy="6591300"/>
        </p:xfrm>
        <a:graphic>
          <a:graphicData uri="http://schemas.openxmlformats.org/drawingml/2006/table">
            <a:tbl>
              <a:tblPr/>
              <a:tblGrid>
                <a:gridCol w="2804526"/>
                <a:gridCol w="7311024"/>
              </a:tblGrid>
              <a:tr h="488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b="true" sz="2400" spc="75">
                          <a:solidFill>
                            <a:srgbClr val="FF505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COLUMN NAME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FF505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DESCRIPTION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Show_id 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Unique identifier assigned to each Netflix title.</a:t>
                      </a: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Indicates whether the title is a Movie or TV Show.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Name of the movie or TV series.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Country 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Country or countries where the title was produced.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Date_added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date the title was added to Netflix.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Release_year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Year in which the title was originally released.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Rating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Content rating such as TV-MA, PG-13, R, etc.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Duration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Length of the movie in minutes or number of seasons for TV shows.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Listed_in 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Genre(s) or categories assigned to the title.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  <a:tr h="61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Description</a:t>
                      </a:r>
                      <a:endParaRPr lang="en-US" sz="1100"/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Brief summary or synopsis of the title.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</a:p>
                  </a:txBody>
                  <a:tcPr marL="128587" marR="128587" marT="128587" marB="128587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480000">
                            <a:alpha val="100000"/>
                          </a:srgbClr>
                        </a:gs>
                        <a:gs pos="50000">
                          <a:srgbClr val="6B0000">
                            <a:alpha val="100000"/>
                          </a:srgbClr>
                        </a:gs>
                        <a:gs pos="100000">
                          <a:srgbClr val="800000">
                            <a:alpha val="100000"/>
                          </a:srgbClr>
                        </a:gs>
                      </a:gsLst>
                      <a:lin ang="1080000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Contributing Countries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States: 3689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India: 1046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Kingdom: 804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Canada: 445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France: 393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Japan: 318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Spain: 232 titles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00388" y="590551"/>
            <a:ext cx="553030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>
                <a:solidFill>
                  <a:srgbClr val="D99694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NEW MEASURES :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128958" y="2352482"/>
            <a:ext cx="11279980" cy="1295787"/>
            <a:chOff x="0" y="0"/>
            <a:chExt cx="10695093" cy="1228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95051" cy="1228598"/>
            </a:xfrm>
            <a:custGeom>
              <a:avLst/>
              <a:gdLst/>
              <a:ahLst/>
              <a:cxnLst/>
              <a:rect r="r" b="b" t="t" l="l"/>
              <a:pathLst>
                <a:path h="1228598" w="10695051">
                  <a:moveTo>
                    <a:pt x="13589" y="0"/>
                  </a:moveTo>
                  <a:lnTo>
                    <a:pt x="10477246" y="0"/>
                  </a:lnTo>
                  <a:cubicBezTo>
                    <a:pt x="10480802" y="0"/>
                    <a:pt x="10484231" y="1397"/>
                    <a:pt x="10486771" y="3937"/>
                  </a:cubicBezTo>
                  <a:lnTo>
                    <a:pt x="10690987" y="204216"/>
                  </a:lnTo>
                  <a:cubicBezTo>
                    <a:pt x="10693527" y="206756"/>
                    <a:pt x="10695051" y="210312"/>
                    <a:pt x="10695051" y="213868"/>
                  </a:cubicBezTo>
                  <a:lnTo>
                    <a:pt x="10695051" y="1215009"/>
                  </a:lnTo>
                  <a:cubicBezTo>
                    <a:pt x="10695051" y="1222502"/>
                    <a:pt x="10688955" y="1228598"/>
                    <a:pt x="10681462" y="1228598"/>
                  </a:cubicBezTo>
                  <a:lnTo>
                    <a:pt x="217805" y="1228598"/>
                  </a:lnTo>
                  <a:cubicBezTo>
                    <a:pt x="214249" y="1228598"/>
                    <a:pt x="210820" y="1227201"/>
                    <a:pt x="208280" y="1224661"/>
                  </a:cubicBezTo>
                  <a:lnTo>
                    <a:pt x="4064" y="1024509"/>
                  </a:lnTo>
                  <a:cubicBezTo>
                    <a:pt x="1524" y="1021969"/>
                    <a:pt x="0" y="1018413"/>
                    <a:pt x="0" y="10148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14857"/>
                  </a:lnTo>
                  <a:lnTo>
                    <a:pt x="13589" y="1014857"/>
                  </a:lnTo>
                  <a:lnTo>
                    <a:pt x="23114" y="1005205"/>
                  </a:lnTo>
                  <a:lnTo>
                    <a:pt x="227330" y="1205357"/>
                  </a:lnTo>
                  <a:lnTo>
                    <a:pt x="217805" y="1215009"/>
                  </a:lnTo>
                  <a:lnTo>
                    <a:pt x="217805" y="1201547"/>
                  </a:lnTo>
                  <a:lnTo>
                    <a:pt x="10681589" y="1201547"/>
                  </a:lnTo>
                  <a:lnTo>
                    <a:pt x="10681589" y="1215136"/>
                  </a:lnTo>
                  <a:lnTo>
                    <a:pt x="10668000" y="1215136"/>
                  </a:lnTo>
                  <a:lnTo>
                    <a:pt x="10668000" y="213741"/>
                  </a:lnTo>
                  <a:lnTo>
                    <a:pt x="10681589" y="213741"/>
                  </a:lnTo>
                  <a:lnTo>
                    <a:pt x="10672064" y="223393"/>
                  </a:lnTo>
                  <a:lnTo>
                    <a:pt x="10467848" y="23241"/>
                  </a:lnTo>
                  <a:lnTo>
                    <a:pt x="10477373" y="13589"/>
                  </a:lnTo>
                  <a:lnTo>
                    <a:pt x="10477373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695093" cy="1285748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 marL="347471" indent="-17373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Genres 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 COUNTAX(VALUES(netflix_titles[listed_in]),netflix_titles[listed_in])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82539" y="4373582"/>
            <a:ext cx="11279980" cy="1295787"/>
            <a:chOff x="0" y="0"/>
            <a:chExt cx="10695093" cy="12285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5051" cy="1228598"/>
            </a:xfrm>
            <a:custGeom>
              <a:avLst/>
              <a:gdLst/>
              <a:ahLst/>
              <a:cxnLst/>
              <a:rect r="r" b="b" t="t" l="l"/>
              <a:pathLst>
                <a:path h="1228598" w="10695051">
                  <a:moveTo>
                    <a:pt x="13589" y="0"/>
                  </a:moveTo>
                  <a:lnTo>
                    <a:pt x="10477246" y="0"/>
                  </a:lnTo>
                  <a:cubicBezTo>
                    <a:pt x="10480802" y="0"/>
                    <a:pt x="10484231" y="1397"/>
                    <a:pt x="10486771" y="3937"/>
                  </a:cubicBezTo>
                  <a:lnTo>
                    <a:pt x="10690987" y="204216"/>
                  </a:lnTo>
                  <a:cubicBezTo>
                    <a:pt x="10693527" y="206756"/>
                    <a:pt x="10695051" y="210312"/>
                    <a:pt x="10695051" y="213868"/>
                  </a:cubicBezTo>
                  <a:lnTo>
                    <a:pt x="10695051" y="1215009"/>
                  </a:lnTo>
                  <a:cubicBezTo>
                    <a:pt x="10695051" y="1222502"/>
                    <a:pt x="10688955" y="1228598"/>
                    <a:pt x="10681462" y="1228598"/>
                  </a:cubicBezTo>
                  <a:lnTo>
                    <a:pt x="217805" y="1228598"/>
                  </a:lnTo>
                  <a:cubicBezTo>
                    <a:pt x="214249" y="1228598"/>
                    <a:pt x="210820" y="1227201"/>
                    <a:pt x="208280" y="1224661"/>
                  </a:cubicBezTo>
                  <a:lnTo>
                    <a:pt x="4064" y="1024509"/>
                  </a:lnTo>
                  <a:cubicBezTo>
                    <a:pt x="1524" y="1021969"/>
                    <a:pt x="0" y="1018413"/>
                    <a:pt x="0" y="101485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014857"/>
                  </a:lnTo>
                  <a:lnTo>
                    <a:pt x="13589" y="1014857"/>
                  </a:lnTo>
                  <a:lnTo>
                    <a:pt x="23114" y="1005205"/>
                  </a:lnTo>
                  <a:lnTo>
                    <a:pt x="227330" y="1205357"/>
                  </a:lnTo>
                  <a:lnTo>
                    <a:pt x="217805" y="1215009"/>
                  </a:lnTo>
                  <a:lnTo>
                    <a:pt x="217805" y="1201547"/>
                  </a:lnTo>
                  <a:lnTo>
                    <a:pt x="10681589" y="1201547"/>
                  </a:lnTo>
                  <a:lnTo>
                    <a:pt x="10681589" y="1215136"/>
                  </a:lnTo>
                  <a:lnTo>
                    <a:pt x="10668000" y="1215136"/>
                  </a:lnTo>
                  <a:lnTo>
                    <a:pt x="10668000" y="213741"/>
                  </a:lnTo>
                  <a:lnTo>
                    <a:pt x="10681589" y="213741"/>
                  </a:lnTo>
                  <a:lnTo>
                    <a:pt x="10672064" y="223393"/>
                  </a:lnTo>
                  <a:lnTo>
                    <a:pt x="10467848" y="23241"/>
                  </a:lnTo>
                  <a:lnTo>
                    <a:pt x="10477373" y="13589"/>
                  </a:lnTo>
                  <a:lnTo>
                    <a:pt x="10477373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695093" cy="1295273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 marL="386079" indent="-193039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Movies </a:t>
              </a: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CALCULATE(COUNTROWS(netflix_titles), netflix_titles[type]="Movie")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82538" y="6386647"/>
            <a:ext cx="11279980" cy="1185594"/>
            <a:chOff x="0" y="0"/>
            <a:chExt cx="10695093" cy="11241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5177" cy="1124204"/>
            </a:xfrm>
            <a:custGeom>
              <a:avLst/>
              <a:gdLst/>
              <a:ahLst/>
              <a:cxnLst/>
              <a:rect r="r" b="b" t="t" l="l"/>
              <a:pathLst>
                <a:path h="1124204" w="10695177">
                  <a:moveTo>
                    <a:pt x="13589" y="0"/>
                  </a:moveTo>
                  <a:lnTo>
                    <a:pt x="10494645" y="0"/>
                  </a:lnTo>
                  <a:cubicBezTo>
                    <a:pt x="10498201" y="0"/>
                    <a:pt x="10501630" y="1397"/>
                    <a:pt x="10504170" y="3810"/>
                  </a:cubicBezTo>
                  <a:lnTo>
                    <a:pt x="10691113" y="186690"/>
                  </a:lnTo>
                  <a:cubicBezTo>
                    <a:pt x="10693781" y="189230"/>
                    <a:pt x="10695177" y="192786"/>
                    <a:pt x="10695177" y="196342"/>
                  </a:cubicBezTo>
                  <a:lnTo>
                    <a:pt x="10695177" y="1110615"/>
                  </a:lnTo>
                  <a:cubicBezTo>
                    <a:pt x="10695177" y="1118108"/>
                    <a:pt x="10689082" y="1124204"/>
                    <a:pt x="10681588" y="1124204"/>
                  </a:cubicBezTo>
                  <a:lnTo>
                    <a:pt x="200406" y="1124204"/>
                  </a:lnTo>
                  <a:cubicBezTo>
                    <a:pt x="196850" y="1124204"/>
                    <a:pt x="193421" y="1122807"/>
                    <a:pt x="190881" y="1120394"/>
                  </a:cubicBezTo>
                  <a:lnTo>
                    <a:pt x="4064" y="937387"/>
                  </a:lnTo>
                  <a:cubicBezTo>
                    <a:pt x="1397" y="934847"/>
                    <a:pt x="0" y="931291"/>
                    <a:pt x="0" y="92773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27735"/>
                  </a:lnTo>
                  <a:lnTo>
                    <a:pt x="13589" y="927735"/>
                  </a:lnTo>
                  <a:lnTo>
                    <a:pt x="23114" y="918083"/>
                  </a:lnTo>
                  <a:lnTo>
                    <a:pt x="210058" y="1100963"/>
                  </a:lnTo>
                  <a:lnTo>
                    <a:pt x="200533" y="1110615"/>
                  </a:lnTo>
                  <a:lnTo>
                    <a:pt x="200533" y="1097026"/>
                  </a:lnTo>
                  <a:lnTo>
                    <a:pt x="10681589" y="1097026"/>
                  </a:lnTo>
                  <a:lnTo>
                    <a:pt x="10681589" y="1110615"/>
                  </a:lnTo>
                  <a:lnTo>
                    <a:pt x="10668000" y="1110615"/>
                  </a:lnTo>
                  <a:lnTo>
                    <a:pt x="10668000" y="196342"/>
                  </a:lnTo>
                  <a:lnTo>
                    <a:pt x="10681589" y="196342"/>
                  </a:lnTo>
                  <a:lnTo>
                    <a:pt x="10672064" y="205994"/>
                  </a:lnTo>
                  <a:lnTo>
                    <a:pt x="10485120" y="23114"/>
                  </a:lnTo>
                  <a:lnTo>
                    <a:pt x="10494645" y="13462"/>
                  </a:lnTo>
                  <a:lnTo>
                    <a:pt x="10494645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695093" cy="1181269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 marL="347471" indent="-17373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TV Shows = 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CALCULATE(COUNTROWS(netflix_titles), netflix_titles[type] = "TV Show")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182539" y="8229733"/>
            <a:ext cx="11279980" cy="1185594"/>
            <a:chOff x="0" y="0"/>
            <a:chExt cx="10695093" cy="11241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5177" cy="1124204"/>
            </a:xfrm>
            <a:custGeom>
              <a:avLst/>
              <a:gdLst/>
              <a:ahLst/>
              <a:cxnLst/>
              <a:rect r="r" b="b" t="t" l="l"/>
              <a:pathLst>
                <a:path h="1124204" w="10695177">
                  <a:moveTo>
                    <a:pt x="13589" y="0"/>
                  </a:moveTo>
                  <a:lnTo>
                    <a:pt x="10494645" y="0"/>
                  </a:lnTo>
                  <a:cubicBezTo>
                    <a:pt x="10498201" y="0"/>
                    <a:pt x="10501630" y="1397"/>
                    <a:pt x="10504170" y="3810"/>
                  </a:cubicBezTo>
                  <a:lnTo>
                    <a:pt x="10691113" y="186690"/>
                  </a:lnTo>
                  <a:cubicBezTo>
                    <a:pt x="10693781" y="189230"/>
                    <a:pt x="10695177" y="192786"/>
                    <a:pt x="10695177" y="196342"/>
                  </a:cubicBezTo>
                  <a:lnTo>
                    <a:pt x="10695177" y="1110615"/>
                  </a:lnTo>
                  <a:cubicBezTo>
                    <a:pt x="10695177" y="1118108"/>
                    <a:pt x="10689082" y="1124204"/>
                    <a:pt x="10681588" y="1124204"/>
                  </a:cubicBezTo>
                  <a:lnTo>
                    <a:pt x="200406" y="1124204"/>
                  </a:lnTo>
                  <a:cubicBezTo>
                    <a:pt x="196850" y="1124204"/>
                    <a:pt x="193421" y="1122807"/>
                    <a:pt x="190881" y="1120394"/>
                  </a:cubicBezTo>
                  <a:lnTo>
                    <a:pt x="4064" y="937387"/>
                  </a:lnTo>
                  <a:cubicBezTo>
                    <a:pt x="1397" y="934847"/>
                    <a:pt x="0" y="931291"/>
                    <a:pt x="0" y="927735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927735"/>
                  </a:lnTo>
                  <a:lnTo>
                    <a:pt x="13589" y="927735"/>
                  </a:lnTo>
                  <a:lnTo>
                    <a:pt x="23114" y="918083"/>
                  </a:lnTo>
                  <a:lnTo>
                    <a:pt x="210058" y="1100963"/>
                  </a:lnTo>
                  <a:lnTo>
                    <a:pt x="200533" y="1110615"/>
                  </a:lnTo>
                  <a:lnTo>
                    <a:pt x="200533" y="1097026"/>
                  </a:lnTo>
                  <a:lnTo>
                    <a:pt x="10681589" y="1097026"/>
                  </a:lnTo>
                  <a:lnTo>
                    <a:pt x="10681589" y="1110615"/>
                  </a:lnTo>
                  <a:lnTo>
                    <a:pt x="10668000" y="1110615"/>
                  </a:lnTo>
                  <a:lnTo>
                    <a:pt x="10668000" y="196342"/>
                  </a:lnTo>
                  <a:lnTo>
                    <a:pt x="10681589" y="196342"/>
                  </a:lnTo>
                  <a:lnTo>
                    <a:pt x="10672064" y="205994"/>
                  </a:lnTo>
                  <a:lnTo>
                    <a:pt x="10485120" y="23114"/>
                  </a:lnTo>
                  <a:lnTo>
                    <a:pt x="10494645" y="13462"/>
                  </a:lnTo>
                  <a:lnTo>
                    <a:pt x="10494645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695093" cy="1181269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 marL="347471" indent="-17373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Titles =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COUNTROWS(netflix_titles)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Contributing Countries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States: 3689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India: 1046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Kingdom: 804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Canada: 445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France: 393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Japan: 318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Spain: 232 titles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57555" y="769010"/>
            <a:ext cx="4607123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4699">
                <a:solidFill>
                  <a:srgbClr val="D99694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NEW COLUMN 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86788" y="2138363"/>
            <a:ext cx="6600825" cy="89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       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214680" y="2386012"/>
            <a:ext cx="11279980" cy="5207614"/>
            <a:chOff x="0" y="0"/>
            <a:chExt cx="10695093" cy="49375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4924" cy="4937633"/>
            </a:xfrm>
            <a:custGeom>
              <a:avLst/>
              <a:gdLst/>
              <a:ahLst/>
              <a:cxnLst/>
              <a:rect r="r" b="b" t="t" l="l"/>
              <a:pathLst>
                <a:path h="4937633" w="10694924">
                  <a:moveTo>
                    <a:pt x="13589" y="0"/>
                  </a:moveTo>
                  <a:lnTo>
                    <a:pt x="9860661" y="0"/>
                  </a:lnTo>
                  <a:cubicBezTo>
                    <a:pt x="9864217" y="0"/>
                    <a:pt x="9867646" y="1397"/>
                    <a:pt x="9870186" y="3937"/>
                  </a:cubicBezTo>
                  <a:lnTo>
                    <a:pt x="10690987" y="822325"/>
                  </a:lnTo>
                  <a:cubicBezTo>
                    <a:pt x="10693527" y="824865"/>
                    <a:pt x="10694924" y="828294"/>
                    <a:pt x="10694924" y="831977"/>
                  </a:cubicBezTo>
                  <a:lnTo>
                    <a:pt x="10694924" y="4924044"/>
                  </a:lnTo>
                  <a:cubicBezTo>
                    <a:pt x="10694924" y="4931537"/>
                    <a:pt x="10688828" y="4937633"/>
                    <a:pt x="10681335" y="4937633"/>
                  </a:cubicBezTo>
                  <a:lnTo>
                    <a:pt x="834390" y="4937633"/>
                  </a:lnTo>
                  <a:cubicBezTo>
                    <a:pt x="830834" y="4937633"/>
                    <a:pt x="827405" y="4936236"/>
                    <a:pt x="824865" y="4933696"/>
                  </a:cubicBezTo>
                  <a:lnTo>
                    <a:pt x="3937" y="4115181"/>
                  </a:lnTo>
                  <a:cubicBezTo>
                    <a:pt x="1397" y="4112641"/>
                    <a:pt x="0" y="4109212"/>
                    <a:pt x="0" y="41055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105656"/>
                  </a:lnTo>
                  <a:lnTo>
                    <a:pt x="13589" y="4105656"/>
                  </a:lnTo>
                  <a:lnTo>
                    <a:pt x="23114" y="4096004"/>
                  </a:lnTo>
                  <a:lnTo>
                    <a:pt x="843915" y="4914392"/>
                  </a:lnTo>
                  <a:lnTo>
                    <a:pt x="834390" y="4924044"/>
                  </a:lnTo>
                  <a:lnTo>
                    <a:pt x="834390" y="4910455"/>
                  </a:lnTo>
                  <a:lnTo>
                    <a:pt x="10681589" y="4910455"/>
                  </a:lnTo>
                  <a:lnTo>
                    <a:pt x="10681589" y="4924044"/>
                  </a:lnTo>
                  <a:lnTo>
                    <a:pt x="10668000" y="4924044"/>
                  </a:lnTo>
                  <a:lnTo>
                    <a:pt x="10668000" y="831977"/>
                  </a:lnTo>
                  <a:lnTo>
                    <a:pt x="10681589" y="831977"/>
                  </a:lnTo>
                  <a:lnTo>
                    <a:pt x="10672064" y="841629"/>
                  </a:lnTo>
                  <a:lnTo>
                    <a:pt x="9851136" y="23114"/>
                  </a:lnTo>
                  <a:lnTo>
                    <a:pt x="9860661" y="13462"/>
                  </a:lnTo>
                  <a:lnTo>
                    <a:pt x="9860661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F50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695093" cy="5004265"/>
            </a:xfrm>
            <a:prstGeom prst="rect">
              <a:avLst/>
            </a:prstGeom>
          </p:spPr>
          <p:txBody>
            <a:bodyPr anchor="t" rtlCol="false" tIns="71438" lIns="71438" bIns="71438" rIns="71438"/>
            <a:lstStyle/>
            <a:p>
              <a:pPr algn="l" marL="386079" indent="-193039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Duration (Minutes) =</a:t>
              </a:r>
              <a:r>
                <a:rPr lang="en-US" b="true" sz="3000">
                  <a:solidFill>
                    <a:srgbClr val="D4D4D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 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4FC1FF"/>
                  </a:solidFill>
                  <a:latin typeface="Consolas"/>
                  <a:ea typeface="Consolas"/>
                  <a:cs typeface="Consolas"/>
                  <a:sym typeface="Consolas"/>
                </a:rPr>
                <a:t>VAR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27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DurationText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n-US" sz="27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netflix_titles[duration]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4FC1FF"/>
                  </a:solidFill>
                  <a:latin typeface="Consolas"/>
                  <a:ea typeface="Consolas"/>
                  <a:cs typeface="Consolas"/>
                  <a:sym typeface="Consolas"/>
                </a:rPr>
                <a:t>VAR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27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Minutes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=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    </a:t>
              </a:r>
              <a:r>
                <a:rPr lang="en-US" sz="27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        </a:t>
              </a:r>
              <a:r>
                <a:rPr lang="en-US" sz="27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SEARCH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00">
                  <a:solidFill>
                    <a:srgbClr val="D16989"/>
                  </a:solidFill>
                  <a:latin typeface="Consolas"/>
                  <a:ea typeface="Consolas"/>
                  <a:cs typeface="Consolas"/>
                  <a:sym typeface="Consolas"/>
                </a:rPr>
                <a:t>"min"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DurationText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 &gt; </a:t>
              </a:r>
              <a:r>
                <a:rPr lang="en-US" sz="27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        </a:t>
              </a:r>
              <a:r>
                <a:rPr lang="en-US" sz="27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VALUE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LEFT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DurationText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SEARCH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00">
                  <a:solidFill>
                    <a:srgbClr val="D16989"/>
                  </a:solidFill>
                  <a:latin typeface="Consolas"/>
                  <a:ea typeface="Consolas"/>
                  <a:cs typeface="Consolas"/>
                  <a:sym typeface="Consolas"/>
                </a:rPr>
                <a:t>"min"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DurationText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 - </a:t>
              </a:r>
              <a:r>
                <a:rPr lang="en-US" sz="27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)),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        </a:t>
              </a:r>
              <a:r>
                <a:rPr lang="en-US" sz="2700">
                  <a:solidFill>
                    <a:srgbClr val="569CD6"/>
                  </a:solidFill>
                  <a:latin typeface="Consolas"/>
                  <a:ea typeface="Consolas"/>
                  <a:cs typeface="Consolas"/>
                  <a:sym typeface="Consolas"/>
                </a:rPr>
                <a:t>BLANK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    )</a:t>
              </a:r>
            </a:p>
            <a:p>
              <a:pPr algn="l" marL="347471" indent="-173735" lvl="1">
                <a:lnSpc>
                  <a:spcPts val="3240"/>
                </a:lnSpc>
              </a:pPr>
              <a:r>
                <a:rPr lang="en-US" sz="2700">
                  <a:solidFill>
                    <a:srgbClr val="4FC1FF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2700">
                  <a:solidFill>
                    <a:srgbClr val="D4D4D4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-US" sz="2700">
                  <a:solidFill>
                    <a:srgbClr val="4EC9B0"/>
                  </a:solidFill>
                  <a:latin typeface="Consolas"/>
                  <a:ea typeface="Consolas"/>
                  <a:cs typeface="Consolas"/>
                  <a:sym typeface="Consolas"/>
                </a:rPr>
                <a:t>Minutes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3" id="3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91558" y="1749297"/>
            <a:ext cx="6692760" cy="4145515"/>
          </a:xfrm>
          <a:custGeom>
            <a:avLst/>
            <a:gdLst/>
            <a:ahLst/>
            <a:cxnLst/>
            <a:rect r="r" b="b" t="t" l="l"/>
            <a:pathLst>
              <a:path h="4145515" w="6692760">
                <a:moveTo>
                  <a:pt x="0" y="0"/>
                </a:moveTo>
                <a:lnTo>
                  <a:pt x="6692760" y="0"/>
                </a:lnTo>
                <a:lnTo>
                  <a:pt x="6692760" y="4145515"/>
                </a:lnTo>
                <a:lnTo>
                  <a:pt x="0" y="4145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24150" y="23811"/>
            <a:ext cx="11722894" cy="1288255"/>
            <a:chOff x="0" y="0"/>
            <a:chExt cx="11115041" cy="1221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15040" cy="1221486"/>
            </a:xfrm>
            <a:custGeom>
              <a:avLst/>
              <a:gdLst/>
              <a:ahLst/>
              <a:cxnLst/>
              <a:rect r="r" b="b" t="t" l="l"/>
              <a:pathLst>
                <a:path h="1221486" w="11115040">
                  <a:moveTo>
                    <a:pt x="0" y="0"/>
                  </a:moveTo>
                  <a:lnTo>
                    <a:pt x="11115040" y="0"/>
                  </a:lnTo>
                  <a:lnTo>
                    <a:pt x="11115040" y="1221486"/>
                  </a:lnTo>
                  <a:lnTo>
                    <a:pt x="0" y="1221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842772" y="1757359"/>
            <a:ext cx="7395394" cy="3897829"/>
          </a:xfrm>
          <a:custGeom>
            <a:avLst/>
            <a:gdLst/>
            <a:ahLst/>
            <a:cxnLst/>
            <a:rect r="r" b="b" t="t" l="l"/>
            <a:pathLst>
              <a:path h="3897829" w="7395394">
                <a:moveTo>
                  <a:pt x="0" y="0"/>
                </a:moveTo>
                <a:lnTo>
                  <a:pt x="7395395" y="0"/>
                </a:lnTo>
                <a:lnTo>
                  <a:pt x="7395395" y="3897829"/>
                </a:lnTo>
                <a:lnTo>
                  <a:pt x="0" y="3897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1000"/>
            </a:blip>
            <a:stretch>
              <a:fillRect l="0" t="0" r="-11591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91558" y="6332962"/>
            <a:ext cx="6692760" cy="3954038"/>
            <a:chOff x="0" y="0"/>
            <a:chExt cx="3116829" cy="18414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39" y="0"/>
              <a:ext cx="3116841" cy="1841275"/>
            </a:xfrm>
            <a:custGeom>
              <a:avLst/>
              <a:gdLst/>
              <a:ahLst/>
              <a:cxnLst/>
              <a:rect r="r" b="b" t="t" l="l"/>
              <a:pathLst>
                <a:path h="1841275" w="3116841">
                  <a:moveTo>
                    <a:pt x="3100712" y="184404"/>
                  </a:moveTo>
                  <a:cubicBezTo>
                    <a:pt x="3100331" y="123444"/>
                    <a:pt x="3109729" y="6604"/>
                    <a:pt x="3109729" y="6604"/>
                  </a:cubicBezTo>
                  <a:lnTo>
                    <a:pt x="2964822" y="4318"/>
                  </a:lnTo>
                  <a:lnTo>
                    <a:pt x="2759336" y="14097"/>
                  </a:lnTo>
                  <a:cubicBezTo>
                    <a:pt x="2759336" y="14097"/>
                    <a:pt x="2425707" y="-1905"/>
                    <a:pt x="2393830" y="13081"/>
                  </a:cubicBezTo>
                  <a:cubicBezTo>
                    <a:pt x="2361826" y="28067"/>
                    <a:pt x="2295913" y="4318"/>
                    <a:pt x="2295913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195607"/>
                  </a:lnTo>
                  <a:lnTo>
                    <a:pt x="14363" y="1374423"/>
                  </a:lnTo>
                  <a:cubicBezTo>
                    <a:pt x="14363" y="1374423"/>
                    <a:pt x="-10656" y="1415571"/>
                    <a:pt x="5346" y="1575591"/>
                  </a:cubicBezTo>
                  <a:cubicBezTo>
                    <a:pt x="21348" y="1735611"/>
                    <a:pt x="38620" y="1830861"/>
                    <a:pt x="38620" y="1830861"/>
                  </a:cubicBezTo>
                  <a:lnTo>
                    <a:pt x="122186" y="1831115"/>
                  </a:lnTo>
                  <a:lnTo>
                    <a:pt x="294906" y="1814605"/>
                  </a:lnTo>
                  <a:lnTo>
                    <a:pt x="521855" y="1832131"/>
                  </a:lnTo>
                  <a:lnTo>
                    <a:pt x="760488" y="1841275"/>
                  </a:lnTo>
                  <a:lnTo>
                    <a:pt x="895870" y="1816129"/>
                  </a:lnTo>
                  <a:lnTo>
                    <a:pt x="998105" y="1833401"/>
                  </a:lnTo>
                  <a:lnTo>
                    <a:pt x="2360683" y="1835306"/>
                  </a:lnTo>
                  <a:lnTo>
                    <a:pt x="2603634" y="1835941"/>
                  </a:lnTo>
                  <a:lnTo>
                    <a:pt x="2840489" y="1826289"/>
                  </a:lnTo>
                  <a:lnTo>
                    <a:pt x="3026798" y="1837084"/>
                  </a:lnTo>
                  <a:lnTo>
                    <a:pt x="3104268" y="1837338"/>
                  </a:lnTo>
                  <a:lnTo>
                    <a:pt x="3104649" y="1689383"/>
                  </a:lnTo>
                  <a:lnTo>
                    <a:pt x="3104903" y="1575718"/>
                  </a:lnTo>
                  <a:lnTo>
                    <a:pt x="3097029" y="1370232"/>
                  </a:lnTo>
                  <a:lnTo>
                    <a:pt x="3105919" y="1202084"/>
                  </a:lnTo>
                  <a:lnTo>
                    <a:pt x="3107697" y="669671"/>
                  </a:lnTo>
                  <a:lnTo>
                    <a:pt x="3116841" y="422656"/>
                  </a:lnTo>
                  <a:cubicBezTo>
                    <a:pt x="3116841" y="422656"/>
                    <a:pt x="3100839" y="245110"/>
                    <a:pt x="3100458" y="184150"/>
                  </a:cubicBezTo>
                  <a:close/>
                </a:path>
              </a:pathLst>
            </a:custGeom>
            <a:blipFill>
              <a:blip r:embed="rId6">
                <a:alphaModFix amt="44999"/>
              </a:blip>
              <a:stretch>
                <a:fillRect l="-9635" t="0" r="-963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06858" y="6332962"/>
            <a:ext cx="7395394" cy="3954038"/>
            <a:chOff x="0" y="0"/>
            <a:chExt cx="3795298" cy="20292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39" y="0"/>
              <a:ext cx="3795310" cy="2029075"/>
            </a:xfrm>
            <a:custGeom>
              <a:avLst/>
              <a:gdLst/>
              <a:ahLst/>
              <a:cxnLst/>
              <a:rect r="r" b="b" t="t" l="l"/>
              <a:pathLst>
                <a:path h="2029075" w="3795310">
                  <a:moveTo>
                    <a:pt x="3779181" y="184404"/>
                  </a:moveTo>
                  <a:cubicBezTo>
                    <a:pt x="3778800" y="123444"/>
                    <a:pt x="3788198" y="6604"/>
                    <a:pt x="3788198" y="6604"/>
                  </a:cubicBezTo>
                  <a:lnTo>
                    <a:pt x="3643291" y="4318"/>
                  </a:lnTo>
                  <a:lnTo>
                    <a:pt x="3437805" y="14097"/>
                  </a:lnTo>
                  <a:cubicBezTo>
                    <a:pt x="3437805" y="14097"/>
                    <a:pt x="3104176" y="-1905"/>
                    <a:pt x="3072299" y="13081"/>
                  </a:cubicBezTo>
                  <a:cubicBezTo>
                    <a:pt x="3040295" y="28067"/>
                    <a:pt x="2974382" y="4318"/>
                    <a:pt x="2974382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83407"/>
                  </a:lnTo>
                  <a:lnTo>
                    <a:pt x="14363" y="1562223"/>
                  </a:lnTo>
                  <a:cubicBezTo>
                    <a:pt x="14363" y="1562223"/>
                    <a:pt x="-10656" y="1603371"/>
                    <a:pt x="5346" y="1763391"/>
                  </a:cubicBezTo>
                  <a:cubicBezTo>
                    <a:pt x="21348" y="1923411"/>
                    <a:pt x="38620" y="2018661"/>
                    <a:pt x="38620" y="2018661"/>
                  </a:cubicBezTo>
                  <a:lnTo>
                    <a:pt x="122186" y="2018915"/>
                  </a:lnTo>
                  <a:lnTo>
                    <a:pt x="294906" y="2002405"/>
                  </a:lnTo>
                  <a:lnTo>
                    <a:pt x="521855" y="2019931"/>
                  </a:lnTo>
                  <a:lnTo>
                    <a:pt x="760488" y="2029075"/>
                  </a:lnTo>
                  <a:lnTo>
                    <a:pt x="895870" y="2003929"/>
                  </a:lnTo>
                  <a:lnTo>
                    <a:pt x="998105" y="2021201"/>
                  </a:lnTo>
                  <a:lnTo>
                    <a:pt x="3039152" y="2023106"/>
                  </a:lnTo>
                  <a:lnTo>
                    <a:pt x="3282103" y="2023741"/>
                  </a:lnTo>
                  <a:lnTo>
                    <a:pt x="3518958" y="2014089"/>
                  </a:lnTo>
                  <a:lnTo>
                    <a:pt x="3705267" y="2024884"/>
                  </a:lnTo>
                  <a:lnTo>
                    <a:pt x="3782737" y="2025138"/>
                  </a:lnTo>
                  <a:lnTo>
                    <a:pt x="3783118" y="1877183"/>
                  </a:lnTo>
                  <a:lnTo>
                    <a:pt x="3783372" y="1763518"/>
                  </a:lnTo>
                  <a:lnTo>
                    <a:pt x="3775498" y="1558032"/>
                  </a:lnTo>
                  <a:lnTo>
                    <a:pt x="3784388" y="1389884"/>
                  </a:lnTo>
                  <a:lnTo>
                    <a:pt x="3786166" y="669671"/>
                  </a:lnTo>
                  <a:lnTo>
                    <a:pt x="3795310" y="422656"/>
                  </a:lnTo>
                  <a:cubicBezTo>
                    <a:pt x="3795310" y="422656"/>
                    <a:pt x="3779308" y="245110"/>
                    <a:pt x="3778927" y="184150"/>
                  </a:cubicBezTo>
                  <a:close/>
                </a:path>
              </a:pathLst>
            </a:custGeom>
            <a:blipFill>
              <a:blip r:embed="rId7">
                <a:alphaModFix amt="43999"/>
              </a:blip>
              <a:stretch>
                <a:fillRect l="-4870" t="0" r="-4877" b="-3585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67646" y="2530400"/>
            <a:ext cx="6216672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29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Title:</a:t>
            </a:r>
            <a:r>
              <a:rPr lang="en-US" sz="291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Distribution of Movies vs TV Shows</a:t>
            </a:r>
          </a:p>
          <a:p>
            <a:pPr algn="l">
              <a:lnSpc>
                <a:spcPts val="3500"/>
              </a:lnSpc>
            </a:pPr>
            <a:r>
              <a:rPr lang="en-US" b="true" sz="29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Type: DONUT CHART </a:t>
            </a:r>
          </a:p>
          <a:p>
            <a:pPr algn="l">
              <a:lnSpc>
                <a:spcPts val="3500"/>
              </a:lnSpc>
            </a:pPr>
            <a:r>
              <a:rPr lang="en-US" b="true" sz="29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Fields Used:</a:t>
            </a:r>
          </a:p>
          <a:p>
            <a:pPr algn="l">
              <a:lnSpc>
                <a:spcPts val="3500"/>
              </a:lnSpc>
            </a:pPr>
            <a:r>
              <a:rPr lang="en-US" b="true" sz="29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Legend:</a:t>
            </a:r>
            <a:r>
              <a:rPr lang="en-US" sz="291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Content Type (Movie, TV Show)</a:t>
            </a:r>
          </a:p>
          <a:p>
            <a:pPr algn="l">
              <a:lnSpc>
                <a:spcPts val="3500"/>
              </a:lnSpc>
            </a:pPr>
            <a:r>
              <a:rPr lang="en-US" b="true" sz="291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Values:</a:t>
            </a:r>
            <a:r>
              <a:rPr lang="en-US" sz="2917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 of </a:t>
            </a:r>
            <a:r>
              <a:rPr lang="en-US" sz="2917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Title ID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07427" y="2372092"/>
            <a:ext cx="4866085" cy="302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Distribution of Titles by Duration (Minutes)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Type: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AREA CHART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Fields Used: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X-axis: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Duration (Minutes)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Y-axis: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 of Titles</a:t>
            </a: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67646" y="7123537"/>
            <a:ext cx="4979193" cy="287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Geographical Distribution of Titles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Type: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Fields Used: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Location: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Country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Size / Values:</a:t>
            </a:r>
            <a:r>
              <a:rPr lang="en-US" sz="2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 of </a:t>
            </a:r>
            <a:r>
              <a:rPr lang="en-US" sz="26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Title ID</a:t>
            </a: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641689" y="7253121"/>
            <a:ext cx="6840131" cy="303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Title:</a:t>
            </a:r>
            <a:r>
              <a:rPr lang="en-US" sz="283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Content Count by Maturity Rating</a:t>
            </a:r>
          </a:p>
          <a:p>
            <a:pPr algn="l">
              <a:lnSpc>
                <a:spcPts val="3397"/>
              </a:lnSpc>
            </a:pP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Type:</a:t>
            </a:r>
            <a:r>
              <a:rPr lang="en-US" sz="283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FUNNEL CHART</a:t>
            </a:r>
          </a:p>
          <a:p>
            <a:pPr algn="l">
              <a:lnSpc>
                <a:spcPts val="3397"/>
              </a:lnSpc>
            </a:pP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Fields Used:</a:t>
            </a:r>
          </a:p>
          <a:p>
            <a:pPr algn="l">
              <a:lnSpc>
                <a:spcPts val="3397"/>
              </a:lnSpc>
            </a:pP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Y-axis:</a:t>
            </a:r>
            <a:r>
              <a:rPr lang="en-US" sz="283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Maturity Rating (TV-MA, TV-14, PG-13, etc.)</a:t>
            </a:r>
          </a:p>
          <a:p>
            <a:pPr algn="l">
              <a:lnSpc>
                <a:spcPts val="3397"/>
              </a:lnSpc>
            </a:pPr>
            <a:r>
              <a:rPr lang="en-US" sz="283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X-axis:</a:t>
            </a:r>
            <a:r>
              <a:rPr lang="en-US" sz="283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 of </a:t>
            </a:r>
            <a:r>
              <a:rPr lang="en-US" sz="2831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Title ID</a:t>
            </a:r>
          </a:p>
          <a:p>
            <a:pPr algn="l">
              <a:lnSpc>
                <a:spcPts val="339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Contributing Countries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States: 3689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India: 1046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United Kingdom: 804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Canada: 445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France: 393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Japan: 318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Spain: 232 titles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23811"/>
            <a:ext cx="18288000" cy="10287000"/>
            <a:chOff x="0" y="0"/>
            <a:chExt cx="17339733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38095" y="380113"/>
            <a:ext cx="7539224" cy="4630625"/>
            <a:chOff x="0" y="0"/>
            <a:chExt cx="3207647" cy="19701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39" y="0"/>
              <a:ext cx="3207659" cy="1970024"/>
            </a:xfrm>
            <a:custGeom>
              <a:avLst/>
              <a:gdLst/>
              <a:ahLst/>
              <a:cxnLst/>
              <a:rect r="r" b="b" t="t" l="l"/>
              <a:pathLst>
                <a:path h="1970024" w="3207659">
                  <a:moveTo>
                    <a:pt x="3191530" y="184404"/>
                  </a:moveTo>
                  <a:cubicBezTo>
                    <a:pt x="3191149" y="123444"/>
                    <a:pt x="3200547" y="6604"/>
                    <a:pt x="3200547" y="6604"/>
                  </a:cubicBezTo>
                  <a:lnTo>
                    <a:pt x="3055640" y="4318"/>
                  </a:lnTo>
                  <a:lnTo>
                    <a:pt x="2850154" y="14097"/>
                  </a:lnTo>
                  <a:cubicBezTo>
                    <a:pt x="2850154" y="14097"/>
                    <a:pt x="2516525" y="-1905"/>
                    <a:pt x="2484648" y="13081"/>
                  </a:cubicBezTo>
                  <a:cubicBezTo>
                    <a:pt x="2452644" y="28067"/>
                    <a:pt x="2386731" y="4318"/>
                    <a:pt x="2386731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24356"/>
                  </a:lnTo>
                  <a:lnTo>
                    <a:pt x="14363" y="1503172"/>
                  </a:lnTo>
                  <a:cubicBezTo>
                    <a:pt x="14363" y="1503172"/>
                    <a:pt x="-10656" y="1544320"/>
                    <a:pt x="5346" y="1704340"/>
                  </a:cubicBezTo>
                  <a:cubicBezTo>
                    <a:pt x="21348" y="1864360"/>
                    <a:pt x="38620" y="1959610"/>
                    <a:pt x="38620" y="1959610"/>
                  </a:cubicBezTo>
                  <a:lnTo>
                    <a:pt x="122186" y="1959864"/>
                  </a:lnTo>
                  <a:lnTo>
                    <a:pt x="294906" y="1943354"/>
                  </a:lnTo>
                  <a:lnTo>
                    <a:pt x="521855" y="1960880"/>
                  </a:lnTo>
                  <a:lnTo>
                    <a:pt x="760488" y="1970024"/>
                  </a:lnTo>
                  <a:lnTo>
                    <a:pt x="895870" y="1944878"/>
                  </a:lnTo>
                  <a:lnTo>
                    <a:pt x="998105" y="1962150"/>
                  </a:lnTo>
                  <a:lnTo>
                    <a:pt x="2451501" y="1964055"/>
                  </a:lnTo>
                  <a:lnTo>
                    <a:pt x="2694452" y="1964690"/>
                  </a:lnTo>
                  <a:lnTo>
                    <a:pt x="2931307" y="1955038"/>
                  </a:lnTo>
                  <a:lnTo>
                    <a:pt x="3117616" y="1965833"/>
                  </a:lnTo>
                  <a:lnTo>
                    <a:pt x="3195086" y="1966087"/>
                  </a:lnTo>
                  <a:lnTo>
                    <a:pt x="3195467" y="1818132"/>
                  </a:lnTo>
                  <a:lnTo>
                    <a:pt x="3195721" y="1704467"/>
                  </a:lnTo>
                  <a:lnTo>
                    <a:pt x="3187847" y="1498981"/>
                  </a:lnTo>
                  <a:lnTo>
                    <a:pt x="3196737" y="1330833"/>
                  </a:lnTo>
                  <a:lnTo>
                    <a:pt x="3198515" y="669671"/>
                  </a:lnTo>
                  <a:lnTo>
                    <a:pt x="3207659" y="422656"/>
                  </a:lnTo>
                  <a:cubicBezTo>
                    <a:pt x="3207659" y="422656"/>
                    <a:pt x="3191657" y="245110"/>
                    <a:pt x="3191276" y="184150"/>
                  </a:cubicBez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l="-4076" t="0" r="-331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91551" y="380113"/>
            <a:ext cx="7167749" cy="4630625"/>
            <a:chOff x="0" y="0"/>
            <a:chExt cx="3049599" cy="1970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39" y="0"/>
              <a:ext cx="3049611" cy="1970024"/>
            </a:xfrm>
            <a:custGeom>
              <a:avLst/>
              <a:gdLst/>
              <a:ahLst/>
              <a:cxnLst/>
              <a:rect r="r" b="b" t="t" l="l"/>
              <a:pathLst>
                <a:path h="1970024" w="3049611">
                  <a:moveTo>
                    <a:pt x="3033482" y="184404"/>
                  </a:moveTo>
                  <a:cubicBezTo>
                    <a:pt x="3033101" y="123444"/>
                    <a:pt x="3042499" y="6604"/>
                    <a:pt x="3042499" y="6604"/>
                  </a:cubicBezTo>
                  <a:lnTo>
                    <a:pt x="2897592" y="4318"/>
                  </a:lnTo>
                  <a:lnTo>
                    <a:pt x="2692106" y="14097"/>
                  </a:lnTo>
                  <a:cubicBezTo>
                    <a:pt x="2692106" y="14097"/>
                    <a:pt x="2358477" y="-1905"/>
                    <a:pt x="2326600" y="13081"/>
                  </a:cubicBezTo>
                  <a:cubicBezTo>
                    <a:pt x="2294596" y="28067"/>
                    <a:pt x="2228683" y="4318"/>
                    <a:pt x="2228683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24356"/>
                  </a:lnTo>
                  <a:lnTo>
                    <a:pt x="14363" y="1503172"/>
                  </a:lnTo>
                  <a:cubicBezTo>
                    <a:pt x="14363" y="1503172"/>
                    <a:pt x="-10656" y="1544320"/>
                    <a:pt x="5346" y="1704340"/>
                  </a:cubicBezTo>
                  <a:cubicBezTo>
                    <a:pt x="21348" y="1864360"/>
                    <a:pt x="38620" y="1959610"/>
                    <a:pt x="38620" y="1959610"/>
                  </a:cubicBezTo>
                  <a:lnTo>
                    <a:pt x="122186" y="1959864"/>
                  </a:lnTo>
                  <a:lnTo>
                    <a:pt x="294906" y="1943354"/>
                  </a:lnTo>
                  <a:lnTo>
                    <a:pt x="521855" y="1960880"/>
                  </a:lnTo>
                  <a:lnTo>
                    <a:pt x="760488" y="1970024"/>
                  </a:lnTo>
                  <a:lnTo>
                    <a:pt x="895870" y="1944878"/>
                  </a:lnTo>
                  <a:lnTo>
                    <a:pt x="998105" y="1962150"/>
                  </a:lnTo>
                  <a:lnTo>
                    <a:pt x="2293453" y="1964055"/>
                  </a:lnTo>
                  <a:lnTo>
                    <a:pt x="2536404" y="1964690"/>
                  </a:lnTo>
                  <a:lnTo>
                    <a:pt x="2773259" y="1955038"/>
                  </a:lnTo>
                  <a:lnTo>
                    <a:pt x="2959568" y="1965833"/>
                  </a:lnTo>
                  <a:lnTo>
                    <a:pt x="3037038" y="1966087"/>
                  </a:lnTo>
                  <a:lnTo>
                    <a:pt x="3037419" y="1818132"/>
                  </a:lnTo>
                  <a:lnTo>
                    <a:pt x="3037673" y="1704467"/>
                  </a:lnTo>
                  <a:lnTo>
                    <a:pt x="3029798" y="1498981"/>
                  </a:lnTo>
                  <a:lnTo>
                    <a:pt x="3038689" y="1330833"/>
                  </a:lnTo>
                  <a:lnTo>
                    <a:pt x="3040467" y="669671"/>
                  </a:lnTo>
                  <a:lnTo>
                    <a:pt x="3049611" y="422656"/>
                  </a:lnTo>
                  <a:cubicBezTo>
                    <a:pt x="3049611" y="422656"/>
                    <a:pt x="3033609" y="245110"/>
                    <a:pt x="3033228" y="184150"/>
                  </a:cubicBezTo>
                  <a:close/>
                </a:path>
              </a:pathLst>
            </a:custGeom>
            <a:blipFill>
              <a:blip r:embed="rId4">
                <a:alphaModFix amt="36000"/>
              </a:blip>
              <a:stretch>
                <a:fillRect l="-4842" t="0" r="-484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8095" y="5241570"/>
            <a:ext cx="7539224" cy="4630625"/>
            <a:chOff x="0" y="0"/>
            <a:chExt cx="3207647" cy="19701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39" y="0"/>
              <a:ext cx="3207659" cy="1970024"/>
            </a:xfrm>
            <a:custGeom>
              <a:avLst/>
              <a:gdLst/>
              <a:ahLst/>
              <a:cxnLst/>
              <a:rect r="r" b="b" t="t" l="l"/>
              <a:pathLst>
                <a:path h="1970024" w="3207659">
                  <a:moveTo>
                    <a:pt x="3191530" y="184404"/>
                  </a:moveTo>
                  <a:cubicBezTo>
                    <a:pt x="3191149" y="123444"/>
                    <a:pt x="3200547" y="6604"/>
                    <a:pt x="3200547" y="6604"/>
                  </a:cubicBezTo>
                  <a:lnTo>
                    <a:pt x="3055640" y="4318"/>
                  </a:lnTo>
                  <a:lnTo>
                    <a:pt x="2850154" y="14097"/>
                  </a:lnTo>
                  <a:cubicBezTo>
                    <a:pt x="2850154" y="14097"/>
                    <a:pt x="2516525" y="-1905"/>
                    <a:pt x="2484648" y="13081"/>
                  </a:cubicBezTo>
                  <a:cubicBezTo>
                    <a:pt x="2452644" y="28067"/>
                    <a:pt x="2386731" y="4318"/>
                    <a:pt x="2386731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24356"/>
                  </a:lnTo>
                  <a:lnTo>
                    <a:pt x="14363" y="1503172"/>
                  </a:lnTo>
                  <a:cubicBezTo>
                    <a:pt x="14363" y="1503172"/>
                    <a:pt x="-10656" y="1544320"/>
                    <a:pt x="5346" y="1704340"/>
                  </a:cubicBezTo>
                  <a:cubicBezTo>
                    <a:pt x="21348" y="1864360"/>
                    <a:pt x="38620" y="1959610"/>
                    <a:pt x="38620" y="1959610"/>
                  </a:cubicBezTo>
                  <a:lnTo>
                    <a:pt x="122186" y="1959864"/>
                  </a:lnTo>
                  <a:lnTo>
                    <a:pt x="294906" y="1943354"/>
                  </a:lnTo>
                  <a:lnTo>
                    <a:pt x="521855" y="1960880"/>
                  </a:lnTo>
                  <a:lnTo>
                    <a:pt x="760488" y="1970024"/>
                  </a:lnTo>
                  <a:lnTo>
                    <a:pt x="895870" y="1944878"/>
                  </a:lnTo>
                  <a:lnTo>
                    <a:pt x="998105" y="1962150"/>
                  </a:lnTo>
                  <a:lnTo>
                    <a:pt x="2451501" y="1964055"/>
                  </a:lnTo>
                  <a:lnTo>
                    <a:pt x="2694452" y="1964690"/>
                  </a:lnTo>
                  <a:lnTo>
                    <a:pt x="2931307" y="1955038"/>
                  </a:lnTo>
                  <a:lnTo>
                    <a:pt x="3117616" y="1965833"/>
                  </a:lnTo>
                  <a:lnTo>
                    <a:pt x="3195086" y="1966087"/>
                  </a:lnTo>
                  <a:lnTo>
                    <a:pt x="3195467" y="1818132"/>
                  </a:lnTo>
                  <a:lnTo>
                    <a:pt x="3195721" y="1704467"/>
                  </a:lnTo>
                  <a:lnTo>
                    <a:pt x="3187847" y="1498981"/>
                  </a:lnTo>
                  <a:lnTo>
                    <a:pt x="3196737" y="1330833"/>
                  </a:lnTo>
                  <a:lnTo>
                    <a:pt x="3198515" y="669671"/>
                  </a:lnTo>
                  <a:lnTo>
                    <a:pt x="3207659" y="422656"/>
                  </a:lnTo>
                  <a:cubicBezTo>
                    <a:pt x="3207659" y="422656"/>
                    <a:pt x="3191657" y="245110"/>
                    <a:pt x="3191276" y="184150"/>
                  </a:cubicBezTo>
                  <a:close/>
                </a:path>
              </a:pathLst>
            </a:custGeom>
            <a:blipFill>
              <a:blip r:embed="rId5"/>
              <a:stretch>
                <a:fillRect l="4" t="-8808" r="-130397" b="-880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91551" y="5241570"/>
            <a:ext cx="7167749" cy="4630625"/>
            <a:chOff x="0" y="0"/>
            <a:chExt cx="3049599" cy="1970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139" y="0"/>
              <a:ext cx="3049611" cy="1970024"/>
            </a:xfrm>
            <a:custGeom>
              <a:avLst/>
              <a:gdLst/>
              <a:ahLst/>
              <a:cxnLst/>
              <a:rect r="r" b="b" t="t" l="l"/>
              <a:pathLst>
                <a:path h="1970024" w="3049611">
                  <a:moveTo>
                    <a:pt x="3033482" y="184404"/>
                  </a:moveTo>
                  <a:cubicBezTo>
                    <a:pt x="3033101" y="123444"/>
                    <a:pt x="3042499" y="6604"/>
                    <a:pt x="3042499" y="6604"/>
                  </a:cubicBezTo>
                  <a:lnTo>
                    <a:pt x="2897592" y="4318"/>
                  </a:lnTo>
                  <a:lnTo>
                    <a:pt x="2692106" y="14097"/>
                  </a:lnTo>
                  <a:cubicBezTo>
                    <a:pt x="2692106" y="14097"/>
                    <a:pt x="2358477" y="-1905"/>
                    <a:pt x="2326600" y="13081"/>
                  </a:cubicBezTo>
                  <a:cubicBezTo>
                    <a:pt x="2294596" y="28067"/>
                    <a:pt x="2228683" y="4318"/>
                    <a:pt x="2228683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24356"/>
                  </a:lnTo>
                  <a:lnTo>
                    <a:pt x="14363" y="1503172"/>
                  </a:lnTo>
                  <a:cubicBezTo>
                    <a:pt x="14363" y="1503172"/>
                    <a:pt x="-10656" y="1544320"/>
                    <a:pt x="5346" y="1704340"/>
                  </a:cubicBezTo>
                  <a:cubicBezTo>
                    <a:pt x="21348" y="1864360"/>
                    <a:pt x="38620" y="1959610"/>
                    <a:pt x="38620" y="1959610"/>
                  </a:cubicBezTo>
                  <a:lnTo>
                    <a:pt x="122186" y="1959864"/>
                  </a:lnTo>
                  <a:lnTo>
                    <a:pt x="294906" y="1943354"/>
                  </a:lnTo>
                  <a:lnTo>
                    <a:pt x="521855" y="1960880"/>
                  </a:lnTo>
                  <a:lnTo>
                    <a:pt x="760488" y="1970024"/>
                  </a:lnTo>
                  <a:lnTo>
                    <a:pt x="895870" y="1944878"/>
                  </a:lnTo>
                  <a:lnTo>
                    <a:pt x="998105" y="1962150"/>
                  </a:lnTo>
                  <a:lnTo>
                    <a:pt x="2293453" y="1964055"/>
                  </a:lnTo>
                  <a:lnTo>
                    <a:pt x="2536404" y="1964690"/>
                  </a:lnTo>
                  <a:lnTo>
                    <a:pt x="2773259" y="1955038"/>
                  </a:lnTo>
                  <a:lnTo>
                    <a:pt x="2959568" y="1965833"/>
                  </a:lnTo>
                  <a:lnTo>
                    <a:pt x="3037038" y="1966087"/>
                  </a:lnTo>
                  <a:lnTo>
                    <a:pt x="3037419" y="1818132"/>
                  </a:lnTo>
                  <a:lnTo>
                    <a:pt x="3037673" y="1704467"/>
                  </a:lnTo>
                  <a:lnTo>
                    <a:pt x="3029798" y="1498981"/>
                  </a:lnTo>
                  <a:lnTo>
                    <a:pt x="3038689" y="1330833"/>
                  </a:lnTo>
                  <a:lnTo>
                    <a:pt x="3040467" y="669671"/>
                  </a:lnTo>
                  <a:lnTo>
                    <a:pt x="3049611" y="422656"/>
                  </a:lnTo>
                  <a:cubicBezTo>
                    <a:pt x="3049611" y="422656"/>
                    <a:pt x="3033609" y="245110"/>
                    <a:pt x="3033228" y="184150"/>
                  </a:cubicBezTo>
                  <a:close/>
                </a:path>
              </a:pathLst>
            </a:custGeom>
            <a:blipFill>
              <a:blip r:embed="rId5"/>
              <a:stretch>
                <a:fillRect l="-101241" t="0" r="-4795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901536" y="1629280"/>
            <a:ext cx="5547779" cy="279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Title:</a:t>
            </a:r>
            <a:r>
              <a:rPr lang="en-US" sz="23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Content Growth Over Years by Type and Rating</a:t>
            </a:r>
          </a:p>
          <a:p>
            <a:pPr algn="l">
              <a:lnSpc>
                <a:spcPts val="2763"/>
              </a:lnSpc>
            </a:pP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Type:</a:t>
            </a:r>
            <a:r>
              <a:rPr lang="en-US" sz="23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STACKED COLUMN CHART</a:t>
            </a:r>
          </a:p>
          <a:p>
            <a:pPr algn="l">
              <a:lnSpc>
                <a:spcPts val="2763"/>
              </a:lnSpc>
            </a:pP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Fields Used:</a:t>
            </a:r>
          </a:p>
          <a:p>
            <a:pPr algn="l">
              <a:lnSpc>
                <a:spcPts val="2763"/>
              </a:lnSpc>
            </a:pP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X-axis:</a:t>
            </a:r>
            <a:r>
              <a:rPr lang="en-US" sz="23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Release Year</a:t>
            </a:r>
          </a:p>
          <a:p>
            <a:pPr algn="l">
              <a:lnSpc>
                <a:spcPts val="2763"/>
              </a:lnSpc>
            </a:pP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Y-axis:</a:t>
            </a:r>
            <a:r>
              <a:rPr lang="en-US" sz="23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 of Titles</a:t>
            </a:r>
          </a:p>
          <a:p>
            <a:pPr algn="l">
              <a:lnSpc>
                <a:spcPts val="2763"/>
              </a:lnSpc>
            </a:pPr>
            <a:r>
              <a:rPr lang="en-US" sz="23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Legend:</a:t>
            </a:r>
            <a:r>
              <a:rPr lang="en-US" sz="230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Content Type (Movie, TV Show)</a:t>
            </a:r>
          </a:p>
          <a:p>
            <a:pPr algn="l">
              <a:lnSpc>
                <a:spcPts val="276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482329" y="1638806"/>
            <a:ext cx="5909165" cy="2931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Title:</a:t>
            </a: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Top Contributing Countries by Content Type</a:t>
            </a:r>
          </a:p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 Type:</a:t>
            </a: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TREEMAP</a:t>
            </a:r>
          </a:p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Fields Used:</a:t>
            </a:r>
          </a:p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Group:</a:t>
            </a: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Country</a:t>
            </a:r>
          </a:p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Details:</a:t>
            </a: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Content Type (Movie, TV Show)</a:t>
            </a:r>
          </a:p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Values:</a:t>
            </a: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Count of </a:t>
            </a:r>
            <a:r>
              <a:rPr lang="en-US" sz="23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Title ID</a:t>
            </a:r>
          </a:p>
          <a:p>
            <a:pPr algn="l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3" id="3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56755" y="0"/>
            <a:ext cx="13692713" cy="10140566"/>
          </a:xfrm>
          <a:custGeom>
            <a:avLst/>
            <a:gdLst/>
            <a:ahLst/>
            <a:cxnLst/>
            <a:rect r="r" b="b" t="t" l="l"/>
            <a:pathLst>
              <a:path h="10140566" w="13692713">
                <a:moveTo>
                  <a:pt x="0" y="0"/>
                </a:moveTo>
                <a:lnTo>
                  <a:pt x="13692712" y="0"/>
                </a:lnTo>
                <a:lnTo>
                  <a:pt x="13692712" y="10140566"/>
                </a:lnTo>
                <a:lnTo>
                  <a:pt x="0" y="10140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0" r="0" b="-42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3" id="3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13811" y="0"/>
            <a:ext cx="13860379" cy="10287000"/>
          </a:xfrm>
          <a:custGeom>
            <a:avLst/>
            <a:gdLst/>
            <a:ahLst/>
            <a:cxnLst/>
            <a:rect r="r" b="b" t="t" l="l"/>
            <a:pathLst>
              <a:path h="10287000" w="13860379">
                <a:moveTo>
                  <a:pt x="0" y="0"/>
                </a:moveTo>
                <a:lnTo>
                  <a:pt x="13860378" y="0"/>
                </a:lnTo>
                <a:lnTo>
                  <a:pt x="13860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Maturity Rating Distribution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TV-MA: 3207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TV-14: 2160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TV-PG: 863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R: 799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PG-13: 490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TV-Y7: 334 titles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TV-Y: 307 titles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457200" y="0"/>
            <a:ext cx="18745200" cy="10287000"/>
            <a:chOff x="0" y="0"/>
            <a:chExt cx="17773227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7773227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773227">
                  <a:moveTo>
                    <a:pt x="0" y="0"/>
                  </a:moveTo>
                  <a:lnTo>
                    <a:pt x="17773227" y="0"/>
                  </a:lnTo>
                  <a:lnTo>
                    <a:pt x="17773227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50" r="0" b="-1249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97061" y="0"/>
            <a:ext cx="13284157" cy="9979213"/>
          </a:xfrm>
          <a:custGeom>
            <a:avLst/>
            <a:gdLst/>
            <a:ahLst/>
            <a:cxnLst/>
            <a:rect r="r" b="b" t="t" l="l"/>
            <a:pathLst>
              <a:path h="9979213" w="13284157">
                <a:moveTo>
                  <a:pt x="0" y="0"/>
                </a:moveTo>
                <a:lnTo>
                  <a:pt x="13284158" y="0"/>
                </a:lnTo>
                <a:lnTo>
                  <a:pt x="13284158" y="9979213"/>
                </a:lnTo>
                <a:lnTo>
                  <a:pt x="0" y="9979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71800" y="411957"/>
            <a:ext cx="12344400" cy="17145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C8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Duration Insights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0388" y="2397919"/>
            <a:ext cx="12087225" cy="672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Movies mostly 80–120 minutes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TV shows usually 1–2 seasons</a:t>
            </a:r>
          </a:p>
          <a:p>
            <a:pPr algn="l" marL="424688" indent="-21234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Short films increasing post-2018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7" id="7" descr="glass_texture_bg_final.png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846388" y="247651"/>
            <a:ext cx="10166598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sz="11899" spc="270">
                <a:solidFill>
                  <a:srgbClr val="F8F8F8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9484" y="2331244"/>
            <a:ext cx="14169628" cy="809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425" indent="-22521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Netflix’s content library is dominated by movies, with a strong focus on adult and teen audiences.</a:t>
            </a:r>
          </a:p>
          <a:p>
            <a:pPr algn="l" marL="450425" indent="-225213" lvl="1">
              <a:lnSpc>
                <a:spcPts val="4899"/>
              </a:lnSpc>
            </a:pPr>
          </a:p>
          <a:p>
            <a:pPr algn="l" marL="450425" indent="-22521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United States contributes the highest number of titles, followed by strong growth from countries like India and other Asian regions.</a:t>
            </a:r>
          </a:p>
          <a:p>
            <a:pPr algn="l" marL="450425" indent="-225213" lvl="1">
              <a:lnSpc>
                <a:spcPts val="4899"/>
              </a:lnSpc>
            </a:pPr>
          </a:p>
          <a:p>
            <a:pPr algn="l" marL="450425" indent="-22521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significant increase in content after 2015 reflects Netflix’s global expansion and focus on original productions.</a:t>
            </a:r>
          </a:p>
          <a:p>
            <a:pPr algn="l" marL="450425" indent="-225213" lvl="1">
              <a:lnSpc>
                <a:spcPts val="4899"/>
              </a:lnSpc>
            </a:pPr>
          </a:p>
          <a:p>
            <a:pPr algn="l" marL="450425" indent="-22521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Overall, the analysis shows Netflix as a data-driven platform that leverages genre diversity and global sourcing to enhance viewer engagement and sustain long-term growth. </a:t>
            </a:r>
          </a:p>
          <a:p>
            <a:pPr algn="l" marL="450425" indent="-225213" lvl="1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1838" y="435710"/>
            <a:ext cx="11658600" cy="172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0"/>
              </a:lnSpc>
            </a:pPr>
            <a:r>
              <a:rPr lang="en-US" sz="9900">
                <a:solidFill>
                  <a:srgbClr val="FBFCFE"/>
                </a:solidFill>
                <a:latin typeface="Copperplate Gothic 29 AB Bold"/>
                <a:ea typeface="Copperplate Gothic 29 AB Bold"/>
                <a:cs typeface="Copperplate Gothic 29 AB Bold"/>
                <a:sym typeface="Copperplate Gothic 29 AB Bold"/>
              </a:rPr>
              <a:t>reference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43250" y="2743200"/>
            <a:ext cx="4286250" cy="2400300"/>
            <a:chOff x="0" y="0"/>
            <a:chExt cx="4064000" cy="2275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0" cy="2275840"/>
            </a:xfrm>
            <a:custGeom>
              <a:avLst/>
              <a:gdLst/>
              <a:ahLst/>
              <a:cxnLst/>
              <a:rect r="r" b="b" t="t" l="l"/>
              <a:pathLst>
                <a:path h="227584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275840"/>
                  </a:lnTo>
                  <a:lnTo>
                    <a:pt x="0" y="227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43250" y="6065043"/>
            <a:ext cx="4543425" cy="2271712"/>
            <a:chOff x="0" y="0"/>
            <a:chExt cx="4307840" cy="2153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7840" cy="2153920"/>
            </a:xfrm>
            <a:custGeom>
              <a:avLst/>
              <a:gdLst/>
              <a:ahLst/>
              <a:cxnLst/>
              <a:rect r="r" b="b" t="t" l="l"/>
              <a:pathLst>
                <a:path h="2153920" w="4307840">
                  <a:moveTo>
                    <a:pt x="0" y="0"/>
                  </a:moveTo>
                  <a:lnTo>
                    <a:pt x="4307840" y="0"/>
                  </a:lnTo>
                  <a:lnTo>
                    <a:pt x="4307840" y="2153920"/>
                  </a:lnTo>
                  <a:lnTo>
                    <a:pt x="0" y="2153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7815262" y="3114005"/>
            <a:ext cx="7308057" cy="1388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4199" spc="224">
                <a:solidFill>
                  <a:srgbClr val="F8F8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https://www.kaggle.com/datasets/shivamb/netflix-shows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43862" y="6257255"/>
            <a:ext cx="7308057" cy="74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4199" spc="224">
                <a:solidFill>
                  <a:srgbClr val="F8F8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Visualization Tool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17339733" cy="975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9734" cy="9753600"/>
            </a:xfrm>
            <a:custGeom>
              <a:avLst/>
              <a:gdLst/>
              <a:ahLst/>
              <a:cxnLst/>
              <a:rect r="r" b="b" t="t" l="l"/>
              <a:pathLst>
                <a:path h="9753600" w="17339734">
                  <a:moveTo>
                    <a:pt x="0" y="0"/>
                  </a:moveTo>
                  <a:lnTo>
                    <a:pt x="17339734" y="0"/>
                  </a:lnTo>
                  <a:lnTo>
                    <a:pt x="17339734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7910" r="0" b="-5291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79182" y="5795962"/>
            <a:ext cx="9001125" cy="171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59"/>
              </a:lnSpc>
            </a:pPr>
            <a:r>
              <a:rPr lang="en-US" b="true" sz="107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9000">
                      <a:srgbClr val="FFFFFF">
                        <a:alpha val="100000"/>
                      </a:srgbClr>
                    </a:gs>
                    <a:gs pos="50000">
                      <a:srgbClr val="7C7C7C">
                        <a:alpha val="100000"/>
                      </a:srgbClr>
                    </a:gs>
                    <a:gs pos="79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DAG6jlWGaDM</dc:identifier>
  <dcterms:modified xsi:type="dcterms:W3CDTF">2011-08-01T06:04:30Z</dcterms:modified>
  <cp:revision>1</cp:revision>
  <dc:title>DESCRIPTIVE ANALYSIS ON NETFLIX CONTENT</dc:title>
</cp:coreProperties>
</file>